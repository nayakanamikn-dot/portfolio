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63bf8f762a446c1" /><Relationship Type="http://schemas.openxmlformats.org/officeDocument/2006/relationships/extended-properties" Target="/docProps/app.xml" Id="Rc53cde0f7e6d4038" /><Relationship Type="http://schemas.openxmlformats.org/officeDocument/2006/relationships/officeDocument" Target="/ppt/presentation.xml" Id="R610c273fb35046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abc455200442a5"/>
  </p:sldMasterIdLst>
  <p:notesMasterIdLst>
    <p:notesMasterId xmlns:r="http://schemas.openxmlformats.org/officeDocument/2006/relationships" r:id="R1cc300b379234c6a"/>
  </p:notesMasterIdLst>
  <p:sldIdLst>
    <p:sldId xmlns:r="http://schemas.openxmlformats.org/officeDocument/2006/relationships" id="256" r:id="Rc34ae189bbae440c"/>
    <p:sldId xmlns:r="http://schemas.openxmlformats.org/officeDocument/2006/relationships" id="257" r:id="R75525141225f4e1f"/>
    <p:sldId xmlns:r="http://schemas.openxmlformats.org/officeDocument/2006/relationships" id="258" r:id="R4a8ee022a6d64024"/>
    <p:sldId xmlns:r="http://schemas.openxmlformats.org/officeDocument/2006/relationships" id="259" r:id="R6afa63b2a7ed4fdb"/>
    <p:sldId xmlns:r="http://schemas.openxmlformats.org/officeDocument/2006/relationships" id="260" r:id="R2d372047fa264ebc"/>
    <p:sldId xmlns:r="http://schemas.openxmlformats.org/officeDocument/2006/relationships" id="261" r:id="Rb45032cced224b6d"/>
    <p:sldId xmlns:r="http://schemas.openxmlformats.org/officeDocument/2006/relationships" id="262" r:id="R336f5a3c4dc54bc7"/>
    <p:sldId xmlns:r="http://schemas.openxmlformats.org/officeDocument/2006/relationships" id="263" r:id="Rd22b7f55c5d3428f"/>
    <p:sldId xmlns:r="http://schemas.openxmlformats.org/officeDocument/2006/relationships" id="264" r:id="Rd0fca3829676433e"/>
    <p:sldId xmlns:r="http://schemas.openxmlformats.org/officeDocument/2006/relationships" id="265" r:id="R7128fcb735734f9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91f614b495496a" /><Relationship Type="http://schemas.openxmlformats.org/officeDocument/2006/relationships/slideMaster" Target="/ppt/slideMasters/slideMaster1.xml" Id="Rbaabc455200442a5" /><Relationship Type="http://schemas.openxmlformats.org/officeDocument/2006/relationships/notesMaster" Target="/ppt/notesMasters/notesMaster1.xml" Id="R1cc300b379234c6a" /><Relationship Type="http://schemas.openxmlformats.org/officeDocument/2006/relationships/presProps" Target="/ppt/presProps.xml" Id="R786a0a3438ad4f39" /><Relationship Type="http://schemas.openxmlformats.org/officeDocument/2006/relationships/tableStyles" Target="/ppt/tableStyles.xml" Id="R7682afbda9174927" /><Relationship Type="http://schemas.openxmlformats.org/officeDocument/2006/relationships/slide" Target="/ppt/slides/slide1.xml" Id="Rc34ae189bbae440c" /><Relationship Type="http://schemas.openxmlformats.org/officeDocument/2006/relationships/slide" Target="/ppt/slides/slide2.xml" Id="R75525141225f4e1f" /><Relationship Type="http://schemas.openxmlformats.org/officeDocument/2006/relationships/slide" Target="/ppt/slides/slide3.xml" Id="R4a8ee022a6d64024" /><Relationship Type="http://schemas.openxmlformats.org/officeDocument/2006/relationships/slide" Target="/ppt/slides/slide4.xml" Id="R6afa63b2a7ed4fdb" /><Relationship Type="http://schemas.openxmlformats.org/officeDocument/2006/relationships/slide" Target="/ppt/slides/slide5.xml" Id="R2d372047fa264ebc" /><Relationship Type="http://schemas.openxmlformats.org/officeDocument/2006/relationships/slide" Target="/ppt/slides/slide6.xml" Id="Rb45032cced224b6d" /><Relationship Type="http://schemas.openxmlformats.org/officeDocument/2006/relationships/slide" Target="/ppt/slides/slide7.xml" Id="R336f5a3c4dc54bc7" /><Relationship Type="http://schemas.openxmlformats.org/officeDocument/2006/relationships/slide" Target="/ppt/slides/slide8.xml" Id="Rd22b7f55c5d3428f" /><Relationship Type="http://schemas.openxmlformats.org/officeDocument/2006/relationships/slide" Target="/ppt/slides/slide9.xml" Id="Rd0fca3829676433e" /><Relationship Type="http://schemas.openxmlformats.org/officeDocument/2006/relationships/slide" Target="/ppt/slides/slide10.xml" Id="R7128fcb735734f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4523d4b20e42c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efbb4f8249a468d" /><Relationship Type="http://schemas.openxmlformats.org/officeDocument/2006/relationships/notesMaster" Target="/ppt/notesMasters/notesMaster1.xml" Id="R31e80edf352b49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0eb542bc1804a10" /><Relationship Type="http://schemas.openxmlformats.org/officeDocument/2006/relationships/notesMaster" Target="/ppt/notesMasters/notesMaster1.xml" Id="R150eb3f46e34489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847676f17414062" /><Relationship Type="http://schemas.openxmlformats.org/officeDocument/2006/relationships/notesMaster" Target="/ppt/notesMasters/notesMaster1.xml" Id="Rf762d4b1094e4fc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4427b17c5584589" /><Relationship Type="http://schemas.openxmlformats.org/officeDocument/2006/relationships/notesMaster" Target="/ppt/notesMasters/notesMaster1.xml" Id="Re56193cacbf147b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cedbcc85c9742f8" /><Relationship Type="http://schemas.openxmlformats.org/officeDocument/2006/relationships/notesMaster" Target="/ppt/notesMasters/notesMaster1.xml" Id="R02ca9ecbe218481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d74476a196440d6" /><Relationship Type="http://schemas.openxmlformats.org/officeDocument/2006/relationships/notesMaster" Target="/ppt/notesMasters/notesMaster1.xml" Id="R133ed3729c8b469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e0a2109f838453f" /><Relationship Type="http://schemas.openxmlformats.org/officeDocument/2006/relationships/notesMaster" Target="/ppt/notesMasters/notesMaster1.xml" Id="Rb5b452395ce04bf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123a6b9af0d4939" /><Relationship Type="http://schemas.openxmlformats.org/officeDocument/2006/relationships/notesMaster" Target="/ppt/notesMasters/notesMaster1.xml" Id="R0aa8abd9f4de478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8b1cf59aca54aaf" /><Relationship Type="http://schemas.openxmlformats.org/officeDocument/2006/relationships/notesMaster" Target="/ppt/notesMasters/notesMaster1.xml" Id="Rc2c1981acf86441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37f1422e04840ce" /><Relationship Type="http://schemas.openxmlformats.org/officeDocument/2006/relationships/notesMaster" Target="/ppt/notesMasters/notesMaster1.xml" Id="Re15c903e2de845b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Research context: LAX states that ride-app pickup occurs at LAX-it and riders may walk or use a shuttle. Airport layouts can dictate a route after arrival. Source: https://www.flylax.com/lax-traffic-and-ground-transportation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Journey and opportunities are product hypotheses. Physical routing examples informed by LAX ride-app instructions and ground transportation map: https://www.flylax.com/lax-traffic-and-ground-transportation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Conceptual model. Airport pickup instructions often specify levels, signs, lots and shuttles beyond a coordinate. Example: LAX ride-app pickup flow, https://www.flylax.com/lax-traffic-and-ground-transportation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product concept. Existing Uber airport and flight-related experiences provide relevant primitives, but this deck proposes a new coordination layer. Context: https://www.uber.com/us/en/ride/airports/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interface elements on this slide are proposed. Airport-specific instructions must originate from current airport configuration data rather than static copy. Relevant example: LAX ride-app pickup instructions, https://www.flylax.com/lax-traffic-and-ground-transportation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coordination model. Local airport rules, allowed pickup location and road conditions must override default routing. Example airport policy context: https://www.flylax.com/lax-traffic-and-ground-transportation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System architecture is proposed. Local variability is evidenced by LAX’s terminal operations, dedicated ride-app pickup area, shuttle option and recurring construction alerts: https://www.flylax.com/lax-traffic-and-ground-transportation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metrics and pilot thresholds are proposed hypotheses. No Uber internal performance data is used. Operational metrics reflect airport rules and curb constraints described by LAX: https://www.flylax.com/lax-traffic-and-ground-transportation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Roadmap, hypotheses and scope choices are proposed. MVP intentionally avoids dependency on universal indoor mapping or airport hardware. Airport rule variability: https://www.flylax.com/lax-traffic-and-ground-transportation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Conclusion and all recommendations are proposed. Research context: airport ride-app operations can require designated areas, shuttles, signage and dynamic traffic restrictions. Source: https://www.flylax.com/lax-traffic-and-ground-transportation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2db3a67c2a449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1e65e4505c84dcc" /><Relationship Type="http://schemas.openxmlformats.org/officeDocument/2006/relationships/slideLayout" Target="/ppt/slideLayouts/slideLayout1.xml" Id="Rfe196a1dbfd1474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e196a1dbfd1474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24327d0c9c4eb0" /><Relationship Type="http://schemas.openxmlformats.org/officeDocument/2006/relationships/image" Target="/ppt/media/image.png" Id="R808126ab20204273" /><Relationship Type="http://schemas.openxmlformats.org/officeDocument/2006/relationships/notesSlide" Target="/ppt/notesSlides/notesSlide1.xml" Id="R9f3451205443400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c63825a86842df" /><Relationship Type="http://schemas.openxmlformats.org/officeDocument/2006/relationships/image" Target="/ppt/media/image2.png" Id="Rd674e8d1591d41d2" /><Relationship Type="http://schemas.openxmlformats.org/officeDocument/2006/relationships/notesSlide" Target="/ppt/notesSlides/notesSlide2.xml" Id="Ra1c197ba5fc44d7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58065a9f144463" /><Relationship Type="http://schemas.openxmlformats.org/officeDocument/2006/relationships/image" Target="/ppt/media/image3.png" Id="R472ddd397cff4950" /><Relationship Type="http://schemas.openxmlformats.org/officeDocument/2006/relationships/notesSlide" Target="/ppt/notesSlides/notesSlide3.xml" Id="R6ec24ad034c24fe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c0db810a3f4d0d" /><Relationship Type="http://schemas.openxmlformats.org/officeDocument/2006/relationships/image" Target="/ppt/media/image4.png" Id="R0c62111ca9704a34" /><Relationship Type="http://schemas.openxmlformats.org/officeDocument/2006/relationships/notesSlide" Target="/ppt/notesSlides/notesSlide4.xml" Id="R4388be67b0e143d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16c62e97b241aa" /><Relationship Type="http://schemas.openxmlformats.org/officeDocument/2006/relationships/image" Target="/ppt/media/image5.png" Id="R2fadde4223c444f0" /><Relationship Type="http://schemas.openxmlformats.org/officeDocument/2006/relationships/notesSlide" Target="/ppt/notesSlides/notesSlide5.xml" Id="R760105d5163c487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468b1276884981" /><Relationship Type="http://schemas.openxmlformats.org/officeDocument/2006/relationships/image" Target="/ppt/media/image6.png" Id="R65b35269a99341f5" /><Relationship Type="http://schemas.openxmlformats.org/officeDocument/2006/relationships/notesSlide" Target="/ppt/notesSlides/notesSlide6.xml" Id="Rf46cd09574284dd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1fa2f45ff94792" /><Relationship Type="http://schemas.openxmlformats.org/officeDocument/2006/relationships/image" Target="/ppt/media/image7.png" Id="Rf238c82d1e764bcf" /><Relationship Type="http://schemas.openxmlformats.org/officeDocument/2006/relationships/notesSlide" Target="/ppt/notesSlides/notesSlide7.xml" Id="R72a95684f5314db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75c66b07d84451" /><Relationship Type="http://schemas.openxmlformats.org/officeDocument/2006/relationships/image" Target="/ppt/media/image8.png" Id="Ra437a3e486ab4245" /><Relationship Type="http://schemas.openxmlformats.org/officeDocument/2006/relationships/notesSlide" Target="/ppt/notesSlides/notesSlide8.xml" Id="R96b7000919ff453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9cba70c8184e58" /><Relationship Type="http://schemas.openxmlformats.org/officeDocument/2006/relationships/image" Target="/ppt/media/image9.png" Id="R41dfb83eee44423c" /><Relationship Type="http://schemas.openxmlformats.org/officeDocument/2006/relationships/notesSlide" Target="/ppt/notesSlides/notesSlide9.xml" Id="R6d0e8e1463d645c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eb8dcc9eb9431d" /><Relationship Type="http://schemas.openxmlformats.org/officeDocument/2006/relationships/image" Target="/ppt/media/image10.png" Id="Rec37713d33094a7a" /><Relationship Type="http://schemas.openxmlformats.org/officeDocument/2006/relationships/notesSlide" Target="/ppt/notesSlides/notesSlide10.xml" Id="R48e0f54fec0c43f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2BCF91F-B20F-43E9-8505-BD5C2B638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95275"/>
            <a:ext cx="1009650" cy="435102"/>
          </a:xfrm>
          <a:prstGeom xmlns:a="http://schemas.openxmlformats.org/drawingml/2006/main" prst="roundRect">
            <a:avLst>
              <a:gd name="adj" fmla="val 17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8126ab20204273"/>
          <a:stretch xmlns:a="http://schemas.openxmlformats.org/drawingml/2006/main"/>
        </p:blipFill>
        <p:spPr>
          <a:xfrm xmlns:a="http://schemas.openxmlformats.org/drawingml/2006/main">
            <a:off x="10382250" y="365843"/>
            <a:ext cx="838200" cy="293966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884718-19D6-48FE-924B-CB265C12C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67676"/>
                </a:solidFill>
                <a:latin typeface="Aptos"/>
                <a:ea typeface="Aptos"/>
                <a:cs typeface="Aptos"/>
              </a:rPr>
              <a:t>UBER  /  PRODUCT MANAGEMENT CASE STUDY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1028DE-0EDF-4CFD-9003-0C81366BE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86525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67676"/>
                </a:solidFill>
                <a:latin typeface="Aptos"/>
                <a:ea typeface="Aptos"/>
                <a:cs typeface="Aptos"/>
              </a:rPr>
              <a:t>1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B50E5B-4EC1-4368-A2A3-986B425D2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Airport pickup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277F83-3F8C-4B13-84E0-A85E0841D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5334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The ride has already been booked.</a:t>
            </a:r>
          </a:p>
          <a:p xmlns:a="http://schemas.openxmlformats.org/drawingml/2006/main">
            <a:pPr algn="l">
              <a:defRPr sz="2100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The anxiety starts when the rider has to find the car.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0F5C02-CF13-4B7A-AA7B-0967F0FE5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4743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767676"/>
                </a:solidFill>
                <a:latin typeface="Aptos"/>
                <a:ea typeface="Aptos"/>
                <a:cs typeface="Aptos"/>
              </a:rPr>
              <a:t>A normal pickup uses a simple handoff. Airports force a traveler to translate an app pin into a physical, regulated route while tired, carrying bags, and time constrained.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DF93E3-61BC-4CD8-865B-64DBA5FD5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1381125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6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EFD181-52D3-4314-A775-771BA6AA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PRODUCT INSIGHT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9BBDC7-057A-4456-B15F-B2F82D25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The failure happens after matching.</a:t>
            </a:r>
          </a:p>
          <a:p xmlns:a="http://schemas.openxmlformats.org/drawingml/2006/main">
            <a:pPr algn="l">
              <a:defRPr sz="1650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Uber has a driver and a rider, but no shared plan for meeting.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83D7FE-A793-4BBD-8013-9B4398397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8580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67676"/>
                </a:solidFill>
                <a:latin typeface="Aptos"/>
                <a:ea typeface="Aptos"/>
                <a:cs typeface="Aptos"/>
              </a:rPr>
              <a:t>NORMAL PICKUP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1C19D3-8A66-4AC8-986C-4B0905273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447800"/>
            <a:ext cx="40005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9C9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BBA993-5601-40D9-8CC3-25814CEA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13335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F40D4A-D3A3-4095-8D56-291F1B76A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1685925"/>
            <a:ext cx="99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B0B0B"/>
                </a:solidFill>
                <a:latin typeface="Aptos"/>
                <a:ea typeface="Aptos"/>
                <a:cs typeface="Aptos"/>
              </a:rPr>
              <a:t>Request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16EFE8-9294-4A8F-A57C-2173C2040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13335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8FF2FC-C5BF-4297-9B8E-9055DAB9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1685925"/>
            <a:ext cx="99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B0B0B"/>
                </a:solidFill>
                <a:latin typeface="Aptos"/>
                <a:ea typeface="Aptos"/>
                <a:cs typeface="Aptos"/>
              </a:rPr>
              <a:t>Walk outside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E3E32A-DCCF-4667-B0A3-F66F6D698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3335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8A4C80-8AC1-4279-BE41-4F7ECD08C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685925"/>
            <a:ext cx="99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B0B0B"/>
                </a:solidFill>
                <a:latin typeface="Aptos"/>
                <a:ea typeface="Aptos"/>
                <a:cs typeface="Aptos"/>
              </a:rPr>
              <a:t>Find driver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AB403A-D2EA-4C89-AA4C-A99D63160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13335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7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4BCA22-BB48-4139-8F07-AA51FB947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1685925"/>
            <a:ext cx="99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Ride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A1F30F-4705-42B5-A15C-E65BAFF7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574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67676"/>
                </a:solidFill>
                <a:latin typeface="Aptos"/>
                <a:ea typeface="Aptos"/>
                <a:cs typeface="Aptos"/>
              </a:rPr>
              <a:t>AIRPORT PICKUP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CE7672-2FC7-4A42-98A4-04599EDFB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76600"/>
            <a:ext cx="44005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9C9C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35EBE1-654B-4FB7-B720-D2FA5057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813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614A6B-7447-46CB-A6CD-9C7DB2FB8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766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0B0B0B"/>
                </a:solidFill>
                <a:latin typeface="Aptos"/>
                <a:ea typeface="Aptos"/>
                <a:cs typeface="Aptos"/>
              </a:rPr>
              <a:t>Land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9854A2-0C4C-4847-B406-E5285FADC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1813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14B980-D83F-4659-9ACD-69299523B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766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0B0B0B"/>
                </a:solidFill>
                <a:latin typeface="Aptos"/>
                <a:ea typeface="Aptos"/>
                <a:cs typeface="Aptos"/>
              </a:rPr>
              <a:t>Baggage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3E5E8B-5496-45A9-9A91-6FCE365B8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813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4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77BAB0-56E7-455D-B706-E27C33EEC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4766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E8474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84747"/>
                </a:solidFill>
                <a:latin typeface="Aptos"/>
                <a:ea typeface="Aptos"/>
                <a:cs typeface="Aptos"/>
              </a:rPr>
              <a:t>Exit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CA43EC-B390-4288-855D-588B1B2C0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813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4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03F57E-2445-4CFB-AA58-0053AAC69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766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E8474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84747"/>
                </a:solidFill>
                <a:latin typeface="Aptos"/>
                <a:ea typeface="Aptos"/>
                <a:cs typeface="Aptos"/>
              </a:rPr>
              <a:t>Rules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68308B-F0DC-463F-B570-774EC1C42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1813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4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A177A3-A2C7-4A78-833E-192BBF4D4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4766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E8474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84747"/>
                </a:solidFill>
                <a:latin typeface="Aptos"/>
                <a:ea typeface="Aptos"/>
                <a:cs typeface="Aptos"/>
              </a:rPr>
              <a:t>Route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F1B203-A866-47FC-BA12-2AF2AB8DF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1813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4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B6E2E9E-8521-460E-B056-A43D27CE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4766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E8474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84747"/>
                </a:solidFill>
                <a:latin typeface="Aptos"/>
                <a:ea typeface="Aptos"/>
                <a:cs typeface="Aptos"/>
              </a:rPr>
              <a:t>Zone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5E2B515-35FA-48CB-A2D0-8B866A92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1813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4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66C423E-A84E-44B6-9CB1-093068A2C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4766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E8474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84747"/>
                </a:solidFill>
                <a:latin typeface="Aptos"/>
                <a:ea typeface="Aptos"/>
                <a:cs typeface="Aptos"/>
              </a:rPr>
              <a:t>Find car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B279BB8-4796-4DCD-80BF-768B3B21D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1813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7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6CAF90B-706F-4A16-A3B7-AAFE85EA7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476625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0B0B0B"/>
                </a:solidFill>
                <a:latin typeface="Aptos"/>
                <a:ea typeface="Aptos"/>
                <a:cs typeface="Aptos"/>
              </a:rPr>
              <a:t>Ride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46AA213-3A4F-480F-A200-B900A5420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7195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High cognitive load starts at the terminal exit, where the app becomes a poor proxy for the airport.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B9CD263-87FC-48D9-BB1B-6E6977F3D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95850"/>
            <a:ext cx="44577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9C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F957413-2BF9-4511-B5AF-24CEA503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0673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67676"/>
                </a:solidFill>
                <a:latin typeface="Aptos"/>
                <a:ea typeface="Aptos"/>
                <a:cs typeface="Aptos"/>
              </a:rPr>
              <a:t>Design question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2972700-DE5A-4CCB-B974-7876F5FB5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3149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How can Uber turn a moving airport into one clear meeting instruction?</a:t>
            </a:r>
          </a:p>
        </p:txBody>
      </p:sp>
    </p:spTree>
    <p:extLst>
      <p:ext uri="{BB962C8B-B14F-4D97-AF65-F5344CB8AC3E}">
        <p14:creationId xmlns:p14="http://schemas.microsoft.com/office/powerpoint/2010/main" val="11066349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5D1E922-DE8C-4410-A471-7086E7B9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6767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F00E7D-F570-42B1-BF8F-FDBDB336D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Airport pickup journey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257269-AA31-4C8C-8C2D-268B8A3BF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67676"/>
                </a:solidFill>
                <a:latin typeface="Aptos"/>
                <a:ea typeface="Aptos"/>
                <a:cs typeface="Aptos"/>
              </a:rPr>
              <a:t>The emotion curve rises where location context breaks. Product opportunities should appear before the rider needs to ask.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ED5A5A-9E1A-4A22-B4E0-BD9DA9D6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CE7828-44FC-4F64-A898-B04130D64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95275"/>
            <a:ext cx="1009650" cy="435102"/>
          </a:xfrm>
          <a:prstGeom xmlns:a="http://schemas.openxmlformats.org/drawingml/2006/main" prst="roundRect">
            <a:avLst>
              <a:gd name="adj" fmla="val 17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74e8d1591d41d2"/>
          <a:stretch xmlns:a="http://schemas.openxmlformats.org/drawingml/2006/main"/>
        </p:blipFill>
        <p:spPr>
          <a:xfrm xmlns:a="http://schemas.openxmlformats.org/drawingml/2006/main">
            <a:off x="10382250" y="365843"/>
            <a:ext cx="838200" cy="29396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44F25F-81B5-4F42-8E98-6F6B349EF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67676"/>
                </a:solidFill>
                <a:latin typeface="Aptos"/>
                <a:ea typeface="Aptos"/>
                <a:cs typeface="Aptos"/>
              </a:rPr>
              <a:t>UBER  /  PRODUCT MANAGEMENT CASE STUDY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51C3CC-532C-401E-BEC4-E9ABAA904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86525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67676"/>
                </a:solidFill>
                <a:latin typeface="Aptos"/>
                <a:ea typeface="Aptos"/>
                <a:cs typeface="Aptos"/>
              </a:rPr>
              <a:t>2 / 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B06ABA-11C7-43E3-B01F-0B0E6597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24125"/>
            <a:ext cx="940117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9C9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6153AB-6573-463F-ADDF-9DABC58EA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003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305F68-29F0-47FF-A5F7-D689770B7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952625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Flight lands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733D67-A448-4EF4-BAD6-542D7C0F8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781300"/>
            <a:ext cx="104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67676"/>
                </a:solidFill>
                <a:latin typeface="Aptos"/>
                <a:ea typeface="Aptos"/>
                <a:cs typeface="Aptos"/>
              </a:rPr>
              <a:t>Know the plan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922A37-1CF5-43A9-8F4D-C89A9284B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24003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06162C-2F6D-4702-9C04-8FB629088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1952625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Baggage claim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8CFACC-EE3F-4747-874E-33733145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781300"/>
            <a:ext cx="104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67676"/>
                </a:solidFill>
                <a:latin typeface="Aptos"/>
                <a:ea typeface="Aptos"/>
                <a:cs typeface="Aptos"/>
              </a:rPr>
              <a:t>Collect bags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41D3E4-F284-4087-8B04-15D5F5539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4003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4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F30F80-443D-476C-96ED-13807A10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952625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Exit terminal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D55797-30FA-42C0-9CE5-E0377459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781300"/>
            <a:ext cx="104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67676"/>
                </a:solidFill>
                <a:latin typeface="Aptos"/>
                <a:ea typeface="Aptos"/>
                <a:cs typeface="Aptos"/>
              </a:rPr>
              <a:t>Choose the right door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389461-894E-46AF-8415-54CD6384E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4003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4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315FC1-BA5F-4C2A-9BF6-037F570B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1952625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Understand rules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481C21-76DD-4AAA-BD80-D304C7464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781300"/>
            <a:ext cx="104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67676"/>
                </a:solidFill>
                <a:latin typeface="Aptos"/>
                <a:ea typeface="Aptos"/>
                <a:cs typeface="Aptos"/>
              </a:rPr>
              <a:t>Know where cars can go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502D86-2394-4978-89B6-DC166C6BC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4003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4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D8EC9C-A13A-4BCB-A487-2964FE309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952625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Navigate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77BDAC-FC44-4E87-9103-AD4E145BC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781300"/>
            <a:ext cx="104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67676"/>
                </a:solidFill>
                <a:latin typeface="Aptos"/>
                <a:ea typeface="Aptos"/>
                <a:cs typeface="Aptos"/>
              </a:rPr>
              <a:t>Reach legal zone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3EC2E6-2F0C-4B01-9E21-DB84E98B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4003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4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2F2F76-46DB-4137-BDE3-875E9C336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952625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Wait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E38F4A-B6B5-4D55-B7CE-C4053F80C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781300"/>
            <a:ext cx="104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67676"/>
                </a:solidFill>
                <a:latin typeface="Aptos"/>
                <a:ea typeface="Aptos"/>
                <a:cs typeface="Aptos"/>
              </a:rPr>
              <a:t>Avoid a missed connection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7F40CD-9653-4C9B-8C77-5EBED3671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4003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4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4F9C68-B0FC-4D2E-9B6A-5485121BB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52625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Locate driver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DE831A-4763-445F-9E18-E0989121F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81300"/>
            <a:ext cx="104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67676"/>
                </a:solidFill>
                <a:latin typeface="Aptos"/>
                <a:ea typeface="Aptos"/>
                <a:cs typeface="Aptos"/>
              </a:rPr>
              <a:t>Identify the vehicle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719D5D-631E-491B-B2D1-6A8AB6FC4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24003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7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7A080D-11AC-4567-AA98-1BA41EE18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1952625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Enter vehicle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C30DD5-89D6-4B33-8F6B-43035EE89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781300"/>
            <a:ext cx="104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67676"/>
                </a:solidFill>
                <a:latin typeface="Aptos"/>
                <a:ea typeface="Aptos"/>
                <a:cs typeface="Aptos"/>
              </a:rPr>
              <a:t>Complete handoff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140617-BC6C-4D38-AF86-DC52EC225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67676"/>
                </a:solidFill>
                <a:latin typeface="Aptos"/>
                <a:ea typeface="Aptos"/>
                <a:cs typeface="Aptos"/>
              </a:rPr>
              <a:t>Rider emotion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661DCDF-C81D-4089-9443-AC7E564F6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4099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67676"/>
                </a:solidFill>
                <a:latin typeface="Aptos"/>
                <a:ea typeface="Aptos"/>
                <a:cs typeface="Aptos"/>
              </a:rPr>
              <a:t>Friction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53A8A7F-65A5-4D58-AB0C-6CFE3EFA5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4099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67676"/>
                </a:solidFill>
                <a:latin typeface="Aptos"/>
                <a:ea typeface="Aptos"/>
                <a:cs typeface="Aptos"/>
              </a:rPr>
              <a:t>Information needed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073182A-F35A-474F-952F-01AA5ED2E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4099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67676"/>
                </a:solidFill>
                <a:latin typeface="Aptos"/>
                <a:ea typeface="Aptos"/>
                <a:cs typeface="Aptos"/>
              </a:rPr>
              <a:t>Product opportunity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4983477-6345-4930-9772-97B955A18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1181100" cy="18478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8F8F6"/>
          </a:solidFill>
          <a:ln xmlns:a="http://schemas.openxmlformats.org/drawingml/2006/main" w="9525">
            <a:solidFill>
              <a:srgbClr val="E9E9E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7FFC7E6-F8A1-4687-8A76-8BB3ED5F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86200"/>
            <a:ext cx="990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Relief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DEA2E79-524B-4F70-8644-E9E746E39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38625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67676"/>
                </a:solidFill>
                <a:latin typeface="Aptos"/>
                <a:ea typeface="Aptos"/>
                <a:cs typeface="Aptos"/>
              </a:rPr>
              <a:t>Arrival status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BAF2740-CAD1-49F8-9947-E3EEACEA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10125"/>
            <a:ext cx="990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Preload airport guidance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91B8831-1F3E-4594-ABDA-1A5D247D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3733800"/>
            <a:ext cx="1181100" cy="18478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8F8F6"/>
          </a:solidFill>
          <a:ln xmlns:a="http://schemas.openxmlformats.org/drawingml/2006/main" w="9525">
            <a:solidFill>
              <a:srgbClr val="E9E9E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A781EB7-89D3-4455-9F35-E533A5870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886200"/>
            <a:ext cx="990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Impatient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F2FC340-793D-4A8E-B4C7-EFE33109A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4238625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67676"/>
                </a:solidFill>
                <a:latin typeface="Aptos"/>
                <a:ea typeface="Aptos"/>
                <a:cs typeface="Aptos"/>
              </a:rPr>
              <a:t>Terminal + baggage ETA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4176662-C492-46B2-A387-00847A0B0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4810125"/>
            <a:ext cx="990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Show pickup readiness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AFF5064-27E6-4622-AF97-C83D366D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733800"/>
            <a:ext cx="1181100" cy="18478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9525">
            <a:solidFill>
              <a:srgbClr val="E8474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E172434-E099-4FEC-952D-BC753E90D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86200"/>
            <a:ext cx="990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8474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84747"/>
                </a:solidFill>
                <a:latin typeface="Aptos"/>
                <a:ea typeface="Aptos"/>
                <a:cs typeface="Aptos"/>
              </a:rPr>
              <a:t>Uncertain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63D7BB9-4CEF-4394-8776-43EEB3F6F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238625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67676"/>
                </a:solidFill>
                <a:latin typeface="Aptos"/>
                <a:ea typeface="Aptos"/>
                <a:cs typeface="Aptos"/>
              </a:rPr>
              <a:t>Door, level, accessible route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D766DB4-6C4B-4294-B55C-994B98B5D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810125"/>
            <a:ext cx="990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Guide to exact exit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DAD15C0-1187-45F6-919B-F7E52CD59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733800"/>
            <a:ext cx="1181100" cy="18478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9525">
            <a:solidFill>
              <a:srgbClr val="E84747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C2CAD19-D9D0-456E-A534-99E8FD8CD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886200"/>
            <a:ext cx="990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8474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84747"/>
                </a:solidFill>
                <a:latin typeface="Aptos"/>
                <a:ea typeface="Aptos"/>
                <a:cs typeface="Aptos"/>
              </a:rPr>
              <a:t>Confused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1A366F7-F091-4FD4-B03C-7F5FC1BA5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238625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67676"/>
                </a:solidFill>
                <a:latin typeface="Aptos"/>
                <a:ea typeface="Aptos"/>
                <a:cs typeface="Aptos"/>
              </a:rPr>
              <a:t>Pickup rule and walk choice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05E5E08-D97B-4E9F-8931-D864E2AC9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810125"/>
            <a:ext cx="990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Translate airport policy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74824EC-62E3-4CB0-ABD6-EF197821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733800"/>
            <a:ext cx="1181100" cy="18478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9525">
            <a:solidFill>
              <a:srgbClr val="E8474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4EC545F-77EF-4E82-B017-979A2873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86200"/>
            <a:ext cx="990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8474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84747"/>
                </a:solidFill>
                <a:latin typeface="Aptos"/>
                <a:ea typeface="Aptos"/>
                <a:cs typeface="Aptos"/>
              </a:rPr>
              <a:t>Stressed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9839A47-FFCB-4708-BC34-F7D1C460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38625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67676"/>
                </a:solidFill>
                <a:latin typeface="Aptos"/>
                <a:ea typeface="Aptos"/>
                <a:cs typeface="Aptos"/>
              </a:rPr>
              <a:t>Turn-by-turn landmarks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BD1F6A5-620A-434F-904A-B8BEC18E9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810125"/>
            <a:ext cx="990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Indoor to curb route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8932D35-F1D5-4966-80C4-B4B07128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733800"/>
            <a:ext cx="1181100" cy="18478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9525">
            <a:solidFill>
              <a:srgbClr val="E84747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FF809A5-0F5D-463C-8A7C-E372B899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886200"/>
            <a:ext cx="990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8474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84747"/>
                </a:solidFill>
                <a:latin typeface="Aptos"/>
                <a:ea typeface="Aptos"/>
                <a:cs typeface="Aptos"/>
              </a:rPr>
              <a:t>Anxious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69F6CA3-D115-4D8B-9485-4CA553CF6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238625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67676"/>
                </a:solidFill>
                <a:latin typeface="Aptos"/>
                <a:ea typeface="Aptos"/>
                <a:cs typeface="Aptos"/>
              </a:rPr>
              <a:t>Driver ETA and zone capacity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48A934C-9C44-41B4-B0B9-E949BC949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810125"/>
            <a:ext cx="990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Set mutual readiness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2741B2A-EC47-49B8-9053-476C53975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733800"/>
            <a:ext cx="1181100" cy="18478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9525">
            <a:solidFill>
              <a:srgbClr val="E84747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0295DC8-85B7-489A-A6C1-29EA69CAE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886200"/>
            <a:ext cx="990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8474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84747"/>
                </a:solidFill>
                <a:latin typeface="Aptos"/>
                <a:ea typeface="Aptos"/>
                <a:cs typeface="Aptos"/>
              </a:rPr>
              <a:t>Peak anxiety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91DE6A3-CF54-4737-A132-C7F163B7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238625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67676"/>
                </a:solidFill>
                <a:latin typeface="Aptos"/>
                <a:ea typeface="Aptos"/>
                <a:cs typeface="Aptos"/>
              </a:rPr>
              <a:t>Vehicle lane and approach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CBC1430-1FAF-4F11-B3EE-0EB26E320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810125"/>
            <a:ext cx="990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Shared live meetpoint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6606565-E7B9-4540-8583-9DDF5DBE8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3733800"/>
            <a:ext cx="1181100" cy="18478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8F8F6"/>
          </a:solidFill>
          <a:ln xmlns:a="http://schemas.openxmlformats.org/drawingml/2006/main" w="9525">
            <a:solidFill>
              <a:srgbClr val="E9E9E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9955F65-ED56-43B6-9941-6F159D69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886200"/>
            <a:ext cx="990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Relief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0623987-6375-4A45-899E-D4928F73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238625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67676"/>
                </a:solidFill>
                <a:latin typeface="Aptos"/>
                <a:ea typeface="Aptos"/>
                <a:cs typeface="Aptos"/>
              </a:rPr>
              <a:t>Verification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D0288F5-6F19-42AC-AB1B-06464243F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810125"/>
            <a:ext cx="990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Close the loop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DDEDF61-41DA-4E53-AC87-68EC069A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76925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8474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84747"/>
                </a:solidFill>
                <a:latin typeface="Aptos"/>
                <a:ea typeface="Aptos"/>
                <a:cs typeface="Aptos"/>
              </a:rPr>
              <a:t>Highest anxiety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E76F868-A55C-4DA6-A339-A22C47689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8769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The rider lacks a confident answer to “Where am I going, and will my driver be there?”</a:t>
            </a:r>
          </a:p>
        </p:txBody>
      </p:sp>
    </p:spTree>
    <p:extLst>
      <p:ext uri="{BB962C8B-B14F-4D97-AF65-F5344CB8AC3E}">
        <p14:creationId xmlns:p14="http://schemas.microsoft.com/office/powerpoint/2010/main" val="11986775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4739C40-77A6-4C64-BE9F-0803185A1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6767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3DFF74-2A4E-42E6-88FB-264645BDB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The shared-location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84A332-867A-426E-A5EB-6E40B1BA3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67676"/>
                </a:solidFill>
                <a:latin typeface="Aptos"/>
                <a:ea typeface="Aptos"/>
                <a:cs typeface="Aptos"/>
              </a:rPr>
              <a:t>A digital pickup pin often collapses a multi-level, multi-door airport into a single coordinate.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028891-86B7-44D9-9FFF-68F8D9B19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160A73-8C22-4BBB-B40A-F63BEE3D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95275"/>
            <a:ext cx="1009650" cy="435102"/>
          </a:xfrm>
          <a:prstGeom xmlns:a="http://schemas.openxmlformats.org/drawingml/2006/main" prst="roundRect">
            <a:avLst>
              <a:gd name="adj" fmla="val 17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2ddd397cff4950"/>
          <a:stretch xmlns:a="http://schemas.openxmlformats.org/drawingml/2006/main"/>
        </p:blipFill>
        <p:spPr>
          <a:xfrm xmlns:a="http://schemas.openxmlformats.org/drawingml/2006/main">
            <a:off x="10382250" y="365843"/>
            <a:ext cx="838200" cy="29396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BF3477-F400-4A1A-9D30-BBF6B52D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67676"/>
                </a:solidFill>
                <a:latin typeface="Aptos"/>
                <a:ea typeface="Aptos"/>
                <a:cs typeface="Aptos"/>
              </a:rPr>
              <a:t>UBER  /  PRODUCT MANAGEMENT CASE STUDY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47AC4A-CAC5-40A9-AFE5-E016B2CD7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86525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67676"/>
                </a:solidFill>
                <a:latin typeface="Aptos"/>
                <a:ea typeface="Aptos"/>
                <a:cs typeface="Aptos"/>
              </a:rPr>
              <a:t>3 / 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26F88F-5D25-43F8-811F-0F5F46216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2667000" cy="2419350"/>
          </a:xfrm>
          <a:prstGeom xmlns:a="http://schemas.openxmlformats.org/drawingml/2006/main" prst="roundRect">
            <a:avLst>
              <a:gd name="adj" fmla="val 6299"/>
            </a:avLst>
          </a:prstGeom>
          <a:solidFill xmlns:a="http://schemas.openxmlformats.org/drawingml/2006/main">
            <a:srgbClr val="0B0B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AC55C1-C48A-44B2-8E02-F7744D7A9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4288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the app sees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7107FA-DAEF-42B7-8222-C6FEB6A5A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29527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268BB0-C493-41C8-9C14-6B953B58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194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Pickup pin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C8325C-F651-423B-A45F-66027CCD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952875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D9D9D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9D9D9"/>
                </a:solidFill>
                <a:latin typeface="Aptos"/>
                <a:ea typeface="Aptos"/>
                <a:cs typeface="Aptos"/>
              </a:rPr>
              <a:t>One coordinate</a:t>
            </a:r>
          </a:p>
          <a:p xmlns:a="http://schemas.openxmlformats.org/drawingml/2006/main">
            <a:pPr algn="ctr">
              <a:defRPr sz="1050" b="0">
                <a:solidFill>
                  <a:srgbClr val="D9D9D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9D9D9"/>
                </a:solidFill>
                <a:latin typeface="Aptos"/>
                <a:ea typeface="Aptos"/>
                <a:cs typeface="Aptos"/>
              </a:rPr>
              <a:t>One ETA</a:t>
            </a:r>
          </a:p>
          <a:p xmlns:a="http://schemas.openxmlformats.org/drawingml/2006/main">
            <a:pPr algn="ctr">
              <a:defRPr sz="1050" b="0">
                <a:solidFill>
                  <a:srgbClr val="D9D9D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9D9D9"/>
                </a:solidFill>
                <a:latin typeface="Aptos"/>
                <a:ea typeface="Aptos"/>
                <a:cs typeface="Aptos"/>
              </a:rPr>
              <a:t>One meeting assumption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7C9B0E-4BB7-4AD8-99B8-15F2F281A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002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What the rider experiences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F62FA1-DAA2-40C5-BA09-144CF5776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24125"/>
            <a:ext cx="5619750" cy="638175"/>
          </a:xfrm>
          <a:prstGeom xmlns:a="http://schemas.openxmlformats.org/drawingml/2006/main" prst="roundRect">
            <a:avLst>
              <a:gd name="adj" fmla="val 179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9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FF5771-AECC-48BF-80B2-F543AFBB9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670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Terminal 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0B0521-86F8-4968-BF60-4583B157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670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67676"/>
                </a:solidFill>
                <a:latin typeface="Aptos"/>
                <a:ea typeface="Aptos"/>
                <a:cs typeface="Aptos"/>
              </a:rPr>
              <a:t>arrivals level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6833C0-837F-472A-BDE6-9BA138933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05100"/>
            <a:ext cx="1047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1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8212D2-8347-406D-B2B0-523479225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4320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Door 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22D286-4F75-4DDF-AE93-BD4B14BC0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09950"/>
            <a:ext cx="5619750" cy="638175"/>
          </a:xfrm>
          <a:prstGeom xmlns:a="http://schemas.openxmlformats.org/drawingml/2006/main" prst="roundRect">
            <a:avLst>
              <a:gd name="adj" fmla="val 179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9C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96DE3D-5322-4156-B089-2C395DEF2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528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Parking / skybridge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FA6C99-ECE3-4222-9585-7E89FA76E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5282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67676"/>
                </a:solidFill>
                <a:latin typeface="Aptos"/>
                <a:ea typeface="Aptos"/>
                <a:cs typeface="Aptos"/>
              </a:rPr>
              <a:t>Level 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FB8E12-6624-4E19-AC13-598ECC12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90925"/>
            <a:ext cx="1047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1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46BEA7-C3AF-4A1A-B5FA-BECBD3284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2902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elevator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C84610-9E33-4ECF-A597-0D509BF3D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95775"/>
            <a:ext cx="5619750" cy="638175"/>
          </a:xfrm>
          <a:prstGeom xmlns:a="http://schemas.openxmlformats.org/drawingml/2006/main" prst="roundRect">
            <a:avLst>
              <a:gd name="adj" fmla="val 179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9C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F884A5-7B53-4AB8-B562-34E70C05D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4386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Rideshare island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3DF472-2EE6-4D45-A26C-BD6D31BE5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386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67676"/>
                </a:solidFill>
                <a:latin typeface="Aptos"/>
                <a:ea typeface="Aptos"/>
                <a:cs typeface="Aptos"/>
              </a:rPr>
              <a:t>Zone B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C99EAD-A31A-4B5D-9A21-7E9E8F4AF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76750"/>
            <a:ext cx="1047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6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E4BA7C-B54F-4E75-87B6-D33105A5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148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curb lane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C7F8C6-D659-496E-A3D9-181BDB6EF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8157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The same “point” can require three different routes.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4E99184-8067-447E-9BAC-326E14A20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495550"/>
            <a:ext cx="1276350" cy="15811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E84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E8A2D50-C980-4082-AF02-DFE2BEA0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828925"/>
            <a:ext cx="971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Coordination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gap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6E2662-112F-4FFA-A19C-8CB57758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286250"/>
            <a:ext cx="1447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67676"/>
                </a:solidFill>
                <a:latin typeface="Aptos"/>
                <a:ea typeface="Aptos"/>
                <a:cs typeface="Aptos"/>
              </a:rPr>
              <a:t>GPS cannot state</a:t>
            </a:r>
          </a:p>
          <a:p xmlns:a="http://schemas.openxmlformats.org/drawingml/2006/main">
            <a:pPr algn="ctr">
              <a:defRPr sz="900" b="0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67676"/>
                </a:solidFill>
                <a:latin typeface="Aptos"/>
                <a:ea typeface="Aptos"/>
                <a:cs typeface="Aptos"/>
              </a:rPr>
              <a:t>which door, level,</a:t>
            </a:r>
          </a:p>
          <a:p xmlns:a="http://schemas.openxmlformats.org/drawingml/2006/main">
            <a:pPr algn="ctr">
              <a:defRPr sz="900" b="0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67676"/>
                </a:solidFill>
                <a:latin typeface="Aptos"/>
                <a:ea typeface="Aptos"/>
                <a:cs typeface="Aptos"/>
              </a:rPr>
              <a:t>or curb lane.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4FD84F9-EB72-4BB3-872E-221AE9C9A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9117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67676"/>
                </a:solidFill>
                <a:latin typeface="Aptos"/>
                <a:ea typeface="Aptos"/>
                <a:cs typeface="Aptos"/>
              </a:rPr>
              <a:t>Root cause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B7859B1-B225-42A6-9A71-C8EC65EEF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293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Uber matches two moving people to a place that neither side can interpret the same way.</a:t>
            </a:r>
          </a:p>
        </p:txBody>
      </p:sp>
    </p:spTree>
    <p:extLst>
      <p:ext uri="{BB962C8B-B14F-4D97-AF65-F5344CB8AC3E}">
        <p14:creationId xmlns:p14="http://schemas.microsoft.com/office/powerpoint/2010/main" val="19264396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A66FCF-9980-4FBC-9117-B6AA929F2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67676"/>
                </a:solidFill>
                <a:latin typeface="Aptos"/>
                <a:ea typeface="Aptos"/>
                <a:cs typeface="Aptos"/>
              </a:rPr>
              <a:t>UBER  /  PRODUCT MANAGEMENT CASE STUDY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2BD82C-1F24-4555-ADAF-FBEFE121E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86525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67676"/>
                </a:solidFill>
                <a:latin typeface="Aptos"/>
                <a:ea typeface="Aptos"/>
                <a:cs typeface="Aptos"/>
              </a:rPr>
              <a:t>4 /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CDC3FC-2B61-4B16-9402-40566E7EE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9B9B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B9B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330680-A77F-4932-A565-266CCFC12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609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Uber Meetpoint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29B402-FCB4-46E2-8BA5-275F55ACE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704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FCFC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FCFCF"/>
                </a:solidFill>
                <a:latin typeface="Aptos"/>
                <a:ea typeface="Aptos"/>
                <a:cs typeface="Aptos"/>
              </a:rPr>
              <a:t>A shared live plan from terminal exit to vehicle handoff.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F151A4-F1D6-4875-A5D4-3F5BF2E9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95275"/>
            <a:ext cx="1009650" cy="435102"/>
          </a:xfrm>
          <a:prstGeom xmlns:a="http://schemas.openxmlformats.org/drawingml/2006/main" prst="roundRect">
            <a:avLst>
              <a:gd name="adj" fmla="val 17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62111ca9704a34"/>
          <a:stretch xmlns:a="http://schemas.openxmlformats.org/drawingml/2006/main"/>
        </p:blipFill>
        <p:spPr>
          <a:xfrm xmlns:a="http://schemas.openxmlformats.org/drawingml/2006/main">
            <a:off x="10382250" y="365843"/>
            <a:ext cx="838200" cy="293966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326E1C-8F78-44BC-942B-1F2FB5CAD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6A6A6"/>
                </a:solidFill>
                <a:latin typeface="Aptos"/>
                <a:ea typeface="Aptos"/>
                <a:cs typeface="Aptos"/>
              </a:rPr>
              <a:t>Product concept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DB6944-2E29-4556-91AF-7CBFBE7D3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One canonical meeting state: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1A00BC-9635-41E5-94CC-68603DE04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4238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4D4D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4D4D4"/>
                </a:solidFill>
                <a:latin typeface="Aptos"/>
                <a:ea typeface="Aptos"/>
                <a:cs typeface="Aptos"/>
              </a:rPr>
              <a:t>“Terminal 2, Door 4, Zone B. Rider arrives in 90 seconds. Driver joins after confirmation.”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17F080-FEB3-4408-B354-F230F7B43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809750"/>
            <a:ext cx="5715000" cy="34861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0FB564-DFBB-4EDB-A7F2-15F0A2162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0955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67676"/>
                </a:solidFill>
                <a:latin typeface="Aptos"/>
                <a:ea typeface="Aptos"/>
                <a:cs typeface="Aptos"/>
              </a:rPr>
              <a:t>RIDER GUIDANCE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53920E-4C22-4492-8ABC-C0FF31503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3812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Walking route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83ECDF-6471-4E67-B900-98795EF13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7622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67676"/>
                </a:solidFill>
                <a:latin typeface="Aptos"/>
                <a:ea typeface="Aptos"/>
                <a:cs typeface="Aptos"/>
              </a:rPr>
              <a:t>Terminal context, doorway, accessibility route and walking ETA.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CD8889-FE22-4BAD-A40B-C539AA156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955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67676"/>
                </a:solidFill>
                <a:latin typeface="Aptos"/>
                <a:ea typeface="Aptos"/>
                <a:cs typeface="Aptos"/>
              </a:rPr>
              <a:t>UBER MEETPOINT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8E4A4D-499A-4BDB-8910-FD03DE851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812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Shared state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2C9CC9-E26F-4DBF-9C4C-97E7C01B4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622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67676"/>
                </a:solidFill>
                <a:latin typeface="Aptos"/>
                <a:ea typeface="Aptos"/>
                <a:cs typeface="Aptos"/>
              </a:rPr>
              <a:t>One zone assignment, readiness signal and exception policy.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871F64-5C9B-4EDE-B343-509EC4B42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7242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67676"/>
                </a:solidFill>
                <a:latin typeface="Aptos"/>
                <a:ea typeface="Aptos"/>
                <a:cs typeface="Aptos"/>
              </a:rPr>
              <a:t>DRIVER ROUTING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A46DC7-627B-4B0F-95C2-0DF20228E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0100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Curb arrival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B508B7-041F-42B4-B5B8-1B4D4209C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391025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67676"/>
                </a:solidFill>
                <a:latin typeface="Aptos"/>
                <a:ea typeface="Aptos"/>
                <a:cs typeface="Aptos"/>
              </a:rPr>
              <a:t>Legal route, staging guidance, rider ETA and wait threshold.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B93EF4-91CE-4CF1-B531-A998D6792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242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67676"/>
                </a:solidFill>
                <a:latin typeface="Aptos"/>
                <a:ea typeface="Aptos"/>
                <a:cs typeface="Aptos"/>
              </a:rPr>
              <a:t>AIRPORT CONTROLS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9B8117-0FE3-460A-A77A-11C8F8B49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100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Rules engine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A2E4C2-2031-4CE7-BD6A-6E7B685D6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391025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67676"/>
                </a:solidFill>
                <a:latin typeface="Aptos"/>
                <a:ea typeface="Aptos"/>
                <a:cs typeface="Aptos"/>
              </a:rPr>
              <a:t>Zone availability, closures, restrictions and local configuration.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E2AFAE-9D1E-4B52-887F-4494B1C7F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885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feature owns the handoff, not the entire airport map.</a:t>
            </a:r>
          </a:p>
        </p:txBody>
      </p:sp>
    </p:spTree>
    <p:extLst>
      <p:ext uri="{BB962C8B-B14F-4D97-AF65-F5344CB8AC3E}">
        <p14:creationId xmlns:p14="http://schemas.microsoft.com/office/powerpoint/2010/main" val="20408016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3AD0CCE-29E5-4AA9-8886-5D9874BA7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67676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BAB044-026A-42C3-B89D-112B133B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Rider experience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473DC0-F5F2-4E99-9359-B94055B1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67676"/>
                </a:solidFill>
                <a:latin typeface="Aptos"/>
                <a:ea typeface="Aptos"/>
                <a:cs typeface="Aptos"/>
              </a:rPr>
              <a:t>Guidance behaves like a calm airport companion, with a single next action and clear recovery paths.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314378-817F-4A9F-AB6F-55022DEF0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7CDFBD-C890-4EA2-9A6B-876BDEB2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95275"/>
            <a:ext cx="1009650" cy="435102"/>
          </a:xfrm>
          <a:prstGeom xmlns:a="http://schemas.openxmlformats.org/drawingml/2006/main" prst="roundRect">
            <a:avLst>
              <a:gd name="adj" fmla="val 17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adde4223c444f0"/>
          <a:stretch xmlns:a="http://schemas.openxmlformats.org/drawingml/2006/main"/>
        </p:blipFill>
        <p:spPr>
          <a:xfrm xmlns:a="http://schemas.openxmlformats.org/drawingml/2006/main">
            <a:off x="10382250" y="365843"/>
            <a:ext cx="838200" cy="29396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614B5C-B2FA-454E-8734-5BCA2CA94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67676"/>
                </a:solidFill>
                <a:latin typeface="Aptos"/>
                <a:ea typeface="Aptos"/>
                <a:cs typeface="Aptos"/>
              </a:rPr>
              <a:t>UBER  /  PRODUCT MANAGEMENT CASE STUDY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FC4A7B-9C47-45C4-A07A-9AE6EF233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86525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67676"/>
                </a:solidFill>
                <a:latin typeface="Aptos"/>
                <a:ea typeface="Aptos"/>
                <a:cs typeface="Aptos"/>
              </a:rPr>
              <a:t>5 / 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BCA7D7-2044-443C-BED0-478F89683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2857500" cy="4095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B0B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A6344-6A8F-4D84-8AC3-DCEB5CA0D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885950"/>
            <a:ext cx="2705100" cy="39433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C593EC-D65C-4157-A0E6-54E73F250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943100"/>
            <a:ext cx="4953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0B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D061E1-0549-4C8A-8C71-4E92C5C0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03835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9:42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60171F-D87C-4478-B595-FF35AB99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336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Meet your driver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E3C53C-0C47-42A3-A632-A39FBDA3A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762250"/>
            <a:ext cx="241935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FE4317-D9F2-4DDC-9554-1FAFE5768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952750"/>
            <a:ext cx="1981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You’re at Terminal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D497CC-32DD-4B81-A2BF-F222CC46E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238500"/>
            <a:ext cx="1981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Exit through Door 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66E945-1E83-4459-91F8-BFDC2BDDD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543300"/>
            <a:ext cx="2000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67676"/>
                </a:solidFill>
                <a:latin typeface="Aptos"/>
                <a:ea typeface="Aptos"/>
                <a:cs typeface="Aptos"/>
              </a:rPr>
              <a:t>Follow the purple rideshare signs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38DCA2-A03C-4ABB-A330-186683489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048125"/>
            <a:ext cx="24193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C39EB7-3364-4A3B-9899-AD7BE0E31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29100"/>
            <a:ext cx="1000125" cy="409575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276EF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95338D-C4E7-4FA6-B2A6-993936C52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229100"/>
            <a:ext cx="904875" cy="3238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276EF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CFD304-BB44-4EA2-8A5C-92304B215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5720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CD287C-E8D3-47D4-86C6-03FF73B59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486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7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8B9AAF-831E-470A-9142-78A70A26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62500"/>
            <a:ext cx="590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767676"/>
                </a:solidFill>
                <a:latin typeface="Aptos"/>
                <a:ea typeface="Aptos"/>
                <a:cs typeface="Aptos"/>
              </a:rPr>
              <a:t>Door 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3AF181-A749-4C4B-A741-85FD5C025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667250"/>
            <a:ext cx="571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767676"/>
                </a:solidFill>
                <a:latin typeface="Aptos"/>
                <a:ea typeface="Aptos"/>
                <a:cs typeface="Aptos"/>
              </a:rPr>
              <a:t>Zone 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F61BF1-E0CC-4791-842C-D92D759C5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5095875"/>
            <a:ext cx="2419350" cy="504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0B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F4E19A-6C87-4C54-8C90-472713A55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67325"/>
            <a:ext cx="2095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Walk 90 sec to Zone B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F6AD13-E666-492E-B7C1-C62A39D38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574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What changes for the rider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EB8C05-8734-42BB-8043-BE8F8172C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6670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F42849-5235-4E2B-908F-B86EE0917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6193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Context before action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BC35CB-A48E-42D2-9D33-E95AD0280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857500"/>
            <a:ext cx="501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67676"/>
                </a:solidFill>
                <a:latin typeface="Aptos"/>
                <a:ea typeface="Aptos"/>
                <a:cs typeface="Aptos"/>
              </a:rPr>
              <a:t>The app recognizes terminal and arrival stage before asking the rider to navigate.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252B84-5D2E-4B2E-8BDC-FCBEFF909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4194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7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68E2004-D480-4150-A49D-1E549AF8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37185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Landmarks over coordinates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708C337-F1E1-4C5C-9279-2B7973914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609975"/>
            <a:ext cx="501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67676"/>
                </a:solidFill>
                <a:latin typeface="Aptos"/>
                <a:ea typeface="Aptos"/>
                <a:cs typeface="Aptos"/>
              </a:rPr>
              <a:t>Door, level and airport signage answer the question a blue dot cannot.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E41620-23EF-495A-B690-3BECDBC2A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4171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99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A42D93-6344-4459-A363-E47C388D8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12432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Mutual readiness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A1C80C3-F60A-4E8E-993F-E2FA64670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362450"/>
            <a:ext cx="501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67676"/>
                </a:solidFill>
                <a:latin typeface="Aptos"/>
                <a:ea typeface="Aptos"/>
                <a:cs typeface="Aptos"/>
              </a:rPr>
              <a:t>The rider sees when to walk. The driver sees when to approach.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56C5ADA-3AFA-4940-8027-C315AFE03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49244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4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B511B85-30AD-46F3-BBE4-FD4850147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8768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Graceful exceptions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B1AA8C2-B1BC-4214-8DC7-0C97B8C68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114925"/>
            <a:ext cx="501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67676"/>
                </a:solidFill>
                <a:latin typeface="Aptos"/>
                <a:ea typeface="Aptos"/>
                <a:cs typeface="Aptos"/>
              </a:rPr>
              <a:t>“I’m at a different door,” mobility needs, lost signal and zone closure get specific recovery actions.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BB40967-A0E0-4CF2-9134-8C6C89ECC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676900"/>
            <a:ext cx="5905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1F1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80B2CB6-64D2-401E-82A7-9AD8FB3E1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810250"/>
            <a:ext cx="552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Priority: reduce the number of decisions the rider must make after baggage claim.</a:t>
            </a:r>
          </a:p>
        </p:txBody>
      </p:sp>
    </p:spTree>
    <p:extLst>
      <p:ext uri="{BB962C8B-B14F-4D97-AF65-F5344CB8AC3E}">
        <p14:creationId xmlns:p14="http://schemas.microsoft.com/office/powerpoint/2010/main" val="600407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281A25D-0A88-4452-9D69-CADE97E31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67676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3AE12E-5867-47F4-B757-43F9B257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Driver and rider coordination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21517A-170F-49DA-B9B2-6D0D8B8E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67676"/>
                </a:solidFill>
                <a:latin typeface="Aptos"/>
                <a:ea typeface="Aptos"/>
                <a:cs typeface="Aptos"/>
              </a:rPr>
              <a:t>Both sides see the same source of truth, timed to their next decision.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E7764C-E70B-4731-9967-CE58DA8B0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907E8A-6BF8-410B-B276-2DF428E82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95275"/>
            <a:ext cx="1009650" cy="435102"/>
          </a:xfrm>
          <a:prstGeom xmlns:a="http://schemas.openxmlformats.org/drawingml/2006/main" prst="roundRect">
            <a:avLst>
              <a:gd name="adj" fmla="val 17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b35269a99341f5"/>
          <a:stretch xmlns:a="http://schemas.openxmlformats.org/drawingml/2006/main"/>
        </p:blipFill>
        <p:spPr>
          <a:xfrm xmlns:a="http://schemas.openxmlformats.org/drawingml/2006/main">
            <a:off x="10382250" y="365843"/>
            <a:ext cx="838200" cy="29396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29C255-C4EA-4CB0-86BC-67750351C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67676"/>
                </a:solidFill>
                <a:latin typeface="Aptos"/>
                <a:ea typeface="Aptos"/>
                <a:cs typeface="Aptos"/>
              </a:rPr>
              <a:t>UBER  /  PRODUCT MANAGEMENT CASE STUDY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B2B00D-B7E4-4E94-9823-57FAA9DE5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86525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67676"/>
                </a:solidFill>
                <a:latin typeface="Aptos"/>
                <a:ea typeface="Aptos"/>
                <a:cs typeface="Aptos"/>
              </a:rPr>
              <a:t>6 / 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2229EA-EBF7-4E43-AD0A-3488E709F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095500" cy="300990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0B0B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EBE8D6-3053-434C-B3C3-6BBD2BBAA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2650"/>
            <a:ext cx="1943100" cy="285750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B1EDDE-C07B-40B6-88C8-B7DBC34CE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09800"/>
            <a:ext cx="4953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0B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4E1A92-2EA9-4BB9-800A-382E6FBF5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33625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67676"/>
                </a:solidFill>
                <a:latin typeface="Aptos"/>
                <a:ea typeface="Aptos"/>
                <a:cs typeface="Aptos"/>
              </a:rPr>
              <a:t>RIDER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5A6023-9504-494A-9DFF-F69C09C63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43200"/>
            <a:ext cx="1638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Walk to</a:t>
            </a:r>
          </a:p>
          <a:p xmlns:a="http://schemas.openxmlformats.org/drawingml/2006/main">
            <a:pPr algn="ctr">
              <a:defRPr sz="1575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Door 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91AFA2-5527-4D08-BF59-AA81989DC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29000"/>
            <a:ext cx="11049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6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6A4531-EF9C-4464-AC1F-A567ABD0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67100"/>
            <a:ext cx="1104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90 sec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EBC257-A2DE-484E-BE6A-E6A198B00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33825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A76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76F"/>
                </a:solidFill>
                <a:latin typeface="Aptos"/>
                <a:ea typeface="Aptos"/>
                <a:cs typeface="Aptos"/>
              </a:rPr>
              <a:t>Zone B confirmed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CD0277-7699-42A7-93DD-0B6E31BF1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8625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67676"/>
                </a:solidFill>
                <a:latin typeface="Aptos"/>
                <a:ea typeface="Aptos"/>
                <a:cs typeface="Aptos"/>
              </a:rPr>
              <a:t>Driver arrives after you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DA9454-1A0A-4BA0-BC67-C3695A6B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95500"/>
            <a:ext cx="4000500" cy="2952750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0B0B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C1AEDD-23BD-49EF-9735-751E1035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812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FAFA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FAFAF"/>
                </a:solidFill>
                <a:latin typeface="Aptos"/>
                <a:ea typeface="Aptos"/>
                <a:cs typeface="Aptos"/>
              </a:rPr>
              <a:t>UBER MEETPOINT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8E6962-7978-46B4-9CF0-B0FCE017A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33675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Terminal 2  •  Door 4  •  Zone 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E28A93-BEA5-4FAF-89A5-48FC988EF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200400"/>
            <a:ext cx="287655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75C3A4-AA86-4B14-848C-E9636C4E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3528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Rider walking  90 sec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175060-78CD-4EAD-8088-358909EF0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00500"/>
            <a:ext cx="3000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D4D4D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4D4D4"/>
                </a:solidFill>
                <a:latin typeface="Aptos"/>
                <a:ea typeface="Aptos"/>
                <a:cs typeface="Aptos"/>
              </a:rPr>
              <a:t>Zone capacity: available   ·   Driver route: legal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59275F-F3AB-4C4B-80AB-D5C5619F5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381500"/>
            <a:ext cx="3000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B8B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B8B8"/>
                </a:solidFill>
                <a:latin typeface="Aptos"/>
                <a:ea typeface="Aptos"/>
                <a:cs typeface="Aptos"/>
              </a:rPr>
              <a:t>Event: terminal curb temporarily closed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10C83D-44D3-4E5A-AC11-9AE629275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076450"/>
            <a:ext cx="2095500" cy="300990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0B0B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D82C12-B931-4119-B235-6650549F1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943100" cy="285750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7B7C94-D27F-4713-B5E6-2692E627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209800"/>
            <a:ext cx="4953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0B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561D33-A2BB-4162-A115-6256375D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33625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67676"/>
                </a:solidFill>
                <a:latin typeface="Aptos"/>
                <a:ea typeface="Aptos"/>
                <a:cs typeface="Aptos"/>
              </a:rPr>
              <a:t>DRIVER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123357-CE21-491F-BFB0-367511A09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743200"/>
            <a:ext cx="1638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Hold at</a:t>
            </a:r>
          </a:p>
          <a:p xmlns:a="http://schemas.openxmlformats.org/drawingml/2006/main">
            <a:pPr algn="ctr">
              <a:defRPr sz="1575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staging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EF7B19-11B5-4E10-88EB-B941672AE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429000"/>
            <a:ext cx="17907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6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88A978-549F-4F41-ACA3-ACCA15A77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467100"/>
            <a:ext cx="1790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Rider: 90 sec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34135E-03D2-4E51-B142-6A7C20F53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933825"/>
            <a:ext cx="1733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A76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76F"/>
                </a:solidFill>
                <a:latin typeface="Aptos"/>
                <a:ea typeface="Aptos"/>
                <a:cs typeface="Aptos"/>
              </a:rPr>
              <a:t>Approach Zone B</a:t>
            </a:r>
          </a:p>
          <a:p xmlns:a="http://schemas.openxmlformats.org/drawingml/2006/main">
            <a:pPr algn="ctr">
              <a:defRPr sz="1050" b="1">
                <a:solidFill>
                  <a:srgbClr val="00A76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76F"/>
                </a:solidFill>
                <a:latin typeface="Aptos"/>
                <a:ea typeface="Aptos"/>
                <a:cs typeface="Aptos"/>
              </a:rPr>
              <a:t>after confirmation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BF00989-7B0B-4405-9DCE-BAFFF10BD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581400"/>
            <a:ext cx="11239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76EF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273A1FF-113A-450A-80D0-A6EED5152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81400"/>
            <a:ext cx="11239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76EF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ABAD2F8-C907-48F7-8CAF-47EBA557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524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D0EFCB4-9935-4015-B40A-BBEE23D7A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524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29E1F3-E372-409A-B89A-5357D827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No “where are you?” loop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DEA1C6C-4F56-4CCA-BAEE-657ADCE2A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34075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67676"/>
                </a:solidFill>
                <a:latin typeface="Aptos"/>
                <a:ea typeface="Aptos"/>
                <a:cs typeface="Aptos"/>
              </a:rPr>
              <a:t>The system removes ambiguous language by making readiness, place and approach order explicit.</a:t>
            </a:r>
          </a:p>
        </p:txBody>
      </p:sp>
    </p:spTree>
    <p:extLst>
      <p:ext uri="{BB962C8B-B14F-4D97-AF65-F5344CB8AC3E}">
        <p14:creationId xmlns:p14="http://schemas.microsoft.com/office/powerpoint/2010/main" val="9245057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AA10D71-AD0D-4ED5-9DC4-73DD28A69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67676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2848C4-4312-4387-A4E9-E76F18C17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Operational complexity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389E07-C701-4E00-BC1E-C890996EB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67676"/>
                </a:solidFill>
                <a:latin typeface="Aptos"/>
                <a:ea typeface="Aptos"/>
                <a:cs typeface="Aptos"/>
              </a:rPr>
              <a:t>The product absorbs local infrastructure, changing rules and marketplace conditions before they reach the rider.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702D63-F683-4DF8-806A-E3B7C2FE5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282921-8A5A-4B12-B3B7-9949D1F88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95275"/>
            <a:ext cx="1009650" cy="435102"/>
          </a:xfrm>
          <a:prstGeom xmlns:a="http://schemas.openxmlformats.org/drawingml/2006/main" prst="roundRect">
            <a:avLst>
              <a:gd name="adj" fmla="val 17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38c82d1e764bcf"/>
          <a:stretch xmlns:a="http://schemas.openxmlformats.org/drawingml/2006/main"/>
        </p:blipFill>
        <p:spPr>
          <a:xfrm xmlns:a="http://schemas.openxmlformats.org/drawingml/2006/main">
            <a:off x="10382250" y="365843"/>
            <a:ext cx="838200" cy="29396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389594-2FE5-4E21-8954-BD611EABF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67676"/>
                </a:solidFill>
                <a:latin typeface="Aptos"/>
                <a:ea typeface="Aptos"/>
                <a:cs typeface="Aptos"/>
              </a:rPr>
              <a:t>UBER  /  PRODUCT MANAGEMENT CASE STUDY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B7C3FD-85A2-40D8-89A7-1BAC22004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86525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67676"/>
                </a:solidFill>
                <a:latin typeface="Aptos"/>
                <a:ea typeface="Aptos"/>
                <a:cs typeface="Aptos"/>
              </a:rPr>
              <a:t>7 / 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6CE974-94DC-4EC4-923C-9D1F0B50B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52625"/>
            <a:ext cx="28575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7F7F5"/>
          </a:solidFill>
          <a:ln xmlns:a="http://schemas.openxmlformats.org/drawingml/2006/main" w="9525">
            <a:solidFill>
              <a:srgbClr val="E9E9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3FC8F5-7760-4A78-B101-DADAF5C37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478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Airport configuration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57B336-7402-43C0-A83B-7C8328747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479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67676"/>
                </a:solidFill>
                <a:latin typeface="Aptos"/>
                <a:ea typeface="Aptos"/>
                <a:cs typeface="Aptos"/>
              </a:rPr>
              <a:t>Terminal, door, level, accessible routes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8B5C63-93D6-426D-AFBD-41953746D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76525"/>
            <a:ext cx="28575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7F7F5"/>
          </a:solidFill>
          <a:ln xmlns:a="http://schemas.openxmlformats.org/drawingml/2006/main" w="9525">
            <a:solidFill>
              <a:srgbClr val="E9E9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720F3A-9487-4396-BF83-222FFD05B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717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Live events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CAD9E8-7772-49BD-9E95-469FC5351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718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67676"/>
                </a:solidFill>
                <a:latin typeface="Aptos"/>
                <a:ea typeface="Aptos"/>
                <a:cs typeface="Aptos"/>
              </a:rPr>
              <a:t>Closure, construction, capacity, security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F7C39D-4542-4C07-BA03-7188CE57D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00425"/>
            <a:ext cx="28575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7F7F5"/>
          </a:solidFill>
          <a:ln xmlns:a="http://schemas.openxmlformats.org/drawingml/2006/main" w="9525">
            <a:solidFill>
              <a:srgbClr val="E9E9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530914-6DEC-47C2-87C2-C460C4B4F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956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Marketplace state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545FD3-1B7D-47C1-AD34-513094C79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957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67676"/>
                </a:solidFill>
                <a:latin typeface="Aptos"/>
                <a:ea typeface="Aptos"/>
                <a:cs typeface="Aptos"/>
              </a:rPr>
              <a:t>Driver supply, staging queue, ETA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7C0CCF-262F-43B7-B021-CBB63D24D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24325"/>
            <a:ext cx="28575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7F7F5"/>
          </a:solidFill>
          <a:ln xmlns:a="http://schemas.openxmlformats.org/drawingml/2006/main" w="9525">
            <a:solidFill>
              <a:srgbClr val="E9E9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92B8AA-87FB-42ED-8FFF-48A71E837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195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Trip signals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6ED7EC-5DC8-4106-BAD5-11DF0D979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196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67676"/>
                </a:solidFill>
                <a:latin typeface="Aptos"/>
                <a:ea typeface="Aptos"/>
                <a:cs typeface="Aptos"/>
              </a:rPr>
              <a:t>Flight status, bags, rider readiness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23CFEA-290B-495C-B948-77E540175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48225"/>
            <a:ext cx="28575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7F7F5"/>
          </a:solidFill>
          <a:ln xmlns:a="http://schemas.openxmlformats.org/drawingml/2006/main" w="9525">
            <a:solidFill>
              <a:srgbClr val="E9E9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6B7572-15F0-4880-869A-80FCED264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434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Location signals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92576E-665C-477F-B6E0-C77F61FDD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435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67676"/>
                </a:solidFill>
                <a:latin typeface="Aptos"/>
                <a:ea typeface="Aptos"/>
                <a:cs typeface="Aptos"/>
              </a:rPr>
              <a:t>GPS, geofences, driver road position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0B2F68-3A01-44D7-AAEB-50BC974E0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24100"/>
            <a:ext cx="2714625" cy="23622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0B0B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09BB48-6314-4076-B4FC-E11C65CD5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52725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Airport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coordination service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239F42-8469-4ED9-8117-F86E81AD9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657600"/>
            <a:ext cx="214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D3D3D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3D3D3"/>
                </a:solidFill>
                <a:latin typeface="Aptos"/>
                <a:ea typeface="Aptos"/>
                <a:cs typeface="Aptos"/>
              </a:rPr>
              <a:t>Selects a legal, feasible</a:t>
            </a:r>
          </a:p>
          <a:p xmlns:a="http://schemas.openxmlformats.org/drawingml/2006/main">
            <a:pPr algn="ctr">
              <a:defRPr sz="1125" b="0">
                <a:solidFill>
                  <a:srgbClr val="D3D3D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3D3D3"/>
                </a:solidFill>
                <a:latin typeface="Aptos"/>
                <a:ea typeface="Aptos"/>
                <a:cs typeface="Aptos"/>
              </a:rPr>
              <a:t>meetpoint for this trip.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C95C82-A5A2-47B7-BE2B-6ECBFC631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86000"/>
            <a:ext cx="2476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C9C9C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EE2CFD-265D-4F8D-9CFA-E0C408F7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003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Rider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F257F3-2601-4888-9D50-E7EFB9CA3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400300"/>
            <a:ext cx="1285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67676"/>
                </a:solidFill>
                <a:latin typeface="Aptos"/>
                <a:ea typeface="Aptos"/>
                <a:cs typeface="Aptos"/>
              </a:rPr>
              <a:t>One walking instruction</a:t>
            </a:r>
          </a:p>
          <a:p xmlns:a="http://schemas.openxmlformats.org/drawingml/2006/main">
            <a:pPr algn="l">
              <a:defRPr sz="900" b="0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67676"/>
                </a:solidFill>
                <a:latin typeface="Aptos"/>
                <a:ea typeface="Aptos"/>
                <a:cs typeface="Aptos"/>
              </a:rPr>
              <a:t>with recovery options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A372DC-100E-46B5-9C82-7190D5C2D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19450"/>
            <a:ext cx="2476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7F7F5"/>
          </a:solidFill>
          <a:ln xmlns:a="http://schemas.openxmlformats.org/drawingml/2006/main" w="9525">
            <a:solidFill>
              <a:srgbClr val="C9C9C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1CCFB9-A181-4A1F-BED2-F02053DD8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3337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Driver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738165-8BC7-4DD1-9B21-D0319258E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333750"/>
            <a:ext cx="1285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67676"/>
                </a:solidFill>
                <a:latin typeface="Aptos"/>
                <a:ea typeface="Aptos"/>
                <a:cs typeface="Aptos"/>
              </a:rPr>
              <a:t>One approach instruction</a:t>
            </a:r>
          </a:p>
          <a:p xmlns:a="http://schemas.openxmlformats.org/drawingml/2006/main">
            <a:pPr algn="l">
              <a:defRPr sz="900" b="0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67676"/>
                </a:solidFill>
                <a:latin typeface="Aptos"/>
                <a:ea typeface="Aptos"/>
                <a:cs typeface="Aptos"/>
              </a:rPr>
              <a:t>with readiness timing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22CBBF0-6E8F-4CE5-9FD4-CDB1AA5BC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152900"/>
            <a:ext cx="2476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7F7F5"/>
          </a:solidFill>
          <a:ln xmlns:a="http://schemas.openxmlformats.org/drawingml/2006/main" w="9525">
            <a:solidFill>
              <a:srgbClr val="C9C9C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5AB5A93-A24C-4D46-9324-C80AAA665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2672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Airport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368429-5355-413A-8B7D-6C67D865A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267200"/>
            <a:ext cx="1285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67676"/>
                </a:solidFill>
                <a:latin typeface="Aptos"/>
                <a:ea typeface="Aptos"/>
                <a:cs typeface="Aptos"/>
              </a:rPr>
              <a:t>Policy-compliant curb</a:t>
            </a:r>
          </a:p>
          <a:p xmlns:a="http://schemas.openxmlformats.org/drawingml/2006/main">
            <a:pPr algn="l">
              <a:defRPr sz="900" b="0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67676"/>
                </a:solidFill>
                <a:latin typeface="Aptos"/>
                <a:ea typeface="Aptos"/>
                <a:cs typeface="Aptos"/>
              </a:rPr>
              <a:t>usage and queue behavior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CF4D743-087C-4255-9405-59A9BD0FB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219325"/>
            <a:ext cx="1114425" cy="9239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C9C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D0CD538-DE27-44B3-88F8-E2D443777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943225"/>
            <a:ext cx="1114425" cy="2000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C9C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E2479D1-BD53-4F22-B32E-922CD29DB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143250"/>
            <a:ext cx="1114425" cy="52387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C9C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BAA17DB-A734-4294-B6A3-43CC4E1C4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143250"/>
            <a:ext cx="1114425" cy="124777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C9C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3CC2EC9-8622-4D29-9169-42CFD854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143250"/>
            <a:ext cx="1114425" cy="197167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C9C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68DA2F0-2237-457C-A098-4D326CD6F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619375"/>
            <a:ext cx="1152525" cy="8858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C9C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068BE0B-B159-4F7A-9F05-4A3171FA5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505200"/>
            <a:ext cx="1152525" cy="476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C9C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F6C5A66-9A77-4CF5-92F5-CF4BB69B9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505200"/>
            <a:ext cx="1152525" cy="98107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C9C2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ADCD011-D1DC-46DC-9611-36F7EA538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6262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67676"/>
                </a:solidFill>
                <a:latin typeface="Aptos"/>
                <a:ea typeface="Aptos"/>
                <a:cs typeface="Aptos"/>
              </a:rPr>
              <a:t>Scale model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DD3E1A3-D580-40FC-A6B3-B937915F9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74357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Tier 1: structured airport map  /  Tier 2: live zone events  /  Tier 3: airport partner integrations</a:t>
            </a:r>
          </a:p>
        </p:txBody>
      </p:sp>
    </p:spTree>
    <p:extLst>
      <p:ext uri="{BB962C8B-B14F-4D97-AF65-F5344CB8AC3E}">
        <p14:creationId xmlns:p14="http://schemas.microsoft.com/office/powerpoint/2010/main" val="21184789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7A124B-8420-4676-B61B-08BA81889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67676"/>
                </a:solidFill>
                <a:latin typeface="Aptos"/>
                <a:ea typeface="Aptos"/>
                <a:cs typeface="Aptos"/>
              </a:rPr>
              <a:t>UBER  /  PRODUCT MANAGEMENT CASE STUDY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ECDB03-F11C-49F4-8EEA-76E535AB6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86525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67676"/>
                </a:solidFill>
                <a:latin typeface="Aptos"/>
                <a:ea typeface="Aptos"/>
                <a:cs typeface="Aptos"/>
              </a:rPr>
              <a:t>8 /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2A94E8-CD9C-4CE0-8E44-8011784EA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9B9B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B9B9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2154A2-9C4C-4AF7-B367-9E1167397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Activation and success metrics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03705D-2CC6-46D0-A282-855308C72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FCFC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FCFCF"/>
                </a:solidFill>
                <a:latin typeface="Aptos"/>
                <a:ea typeface="Aptos"/>
                <a:cs typeface="Aptos"/>
              </a:rPr>
              <a:t>Measure the handoff, not app engagement. Targets below are illustrative hypotheses.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608639-DDEE-49A7-A462-CF6AC3F96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95275"/>
            <a:ext cx="1009650" cy="435102"/>
          </a:xfrm>
          <a:prstGeom xmlns:a="http://schemas.openxmlformats.org/drawingml/2006/main" prst="roundRect">
            <a:avLst>
              <a:gd name="adj" fmla="val 17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37a3e486ab4245"/>
          <a:stretch xmlns:a="http://schemas.openxmlformats.org/drawingml/2006/main"/>
        </p:blipFill>
        <p:spPr>
          <a:xfrm xmlns:a="http://schemas.openxmlformats.org/drawingml/2006/main">
            <a:off x="10382250" y="365843"/>
            <a:ext cx="838200" cy="293966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067EC1-1BE4-4EDD-B7BA-9670453FC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838325"/>
            <a:ext cx="10810875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AD0408-0BF3-46CD-BF24-5B88648B6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5740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67676"/>
                </a:solidFill>
                <a:latin typeface="Aptos"/>
                <a:ea typeface="Aptos"/>
                <a:cs typeface="Aptos"/>
              </a:rPr>
              <a:t>NORTH STAR  ·  PROPOSED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345F6C-DF8D-47FB-B9D5-2EFB0F13B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52675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Coordinated Pickup Success Rate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83ED83-4DAD-420D-BB77-4B7A068E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43125"/>
            <a:ext cx="5286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67676"/>
                </a:solidFill>
                <a:latin typeface="Aptos"/>
                <a:ea typeface="Aptos"/>
                <a:cs typeface="Aptos"/>
              </a:rPr>
              <a:t>Completed airport trips that reach vehicle entry within the expected window without cancellation, reassignment or rider-driver contact.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E72FD5-EDB1-4EF1-B292-DA277E1D6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52800"/>
            <a:ext cx="2438400" cy="18573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70F498-2D2F-42BC-9062-C28C5A001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90925"/>
            <a:ext cx="2038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Pickup reliability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C32ED8-B59A-4976-9364-A4BA57F7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90975"/>
            <a:ext cx="2038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1D1D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1D1D1"/>
                </a:solidFill>
                <a:latin typeface="Aptos"/>
                <a:ea typeface="Aptos"/>
                <a:cs typeface="Aptos"/>
              </a:rPr>
              <a:t>Meetpoint confirmation rate</a:t>
            </a:r>
          </a:p>
          <a:p xmlns:a="http://schemas.openxmlformats.org/drawingml/2006/main">
            <a:pPr algn="l">
              <a:defRPr sz="1050" b="0">
                <a:solidFill>
                  <a:srgbClr val="D1D1D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1D1D1"/>
                </a:solidFill>
                <a:latin typeface="Aptos"/>
                <a:ea typeface="Aptos"/>
                <a:cs typeface="Aptos"/>
              </a:rPr>
              <a:t>Vehicle entry within expected time</a:t>
            </a:r>
          </a:p>
          <a:p xmlns:a="http://schemas.openxmlformats.org/drawingml/2006/main">
            <a:pPr algn="l">
              <a:defRPr sz="1050" b="0">
                <a:solidFill>
                  <a:srgbClr val="D1D1D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1D1D1"/>
                </a:solidFill>
                <a:latin typeface="Aptos"/>
                <a:ea typeface="Aptos"/>
                <a:cs typeface="Aptos"/>
              </a:rPr>
              <a:t>Cancellation after match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E91359-BAF9-4A76-97E5-D06C8BFF8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52800"/>
            <a:ext cx="2438400" cy="18573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41996A-286B-4045-8116-A88070A1D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590925"/>
            <a:ext cx="2038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Rider confidence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26BAC3-F425-4261-9682-74DC6693E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990975"/>
            <a:ext cx="2038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1D1D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1D1D1"/>
                </a:solidFill>
                <a:latin typeface="Aptos"/>
                <a:ea typeface="Aptos"/>
                <a:cs typeface="Aptos"/>
              </a:rPr>
              <a:t>“I knew where to go”</a:t>
            </a:r>
          </a:p>
          <a:p xmlns:a="http://schemas.openxmlformats.org/drawingml/2006/main">
            <a:pPr algn="l">
              <a:defRPr sz="1050" b="0">
                <a:solidFill>
                  <a:srgbClr val="D1D1D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1D1D1"/>
                </a:solidFill>
                <a:latin typeface="Aptos"/>
                <a:ea typeface="Aptos"/>
                <a:cs typeface="Aptos"/>
              </a:rPr>
              <a:t>Support contacts during pickup</a:t>
            </a:r>
          </a:p>
          <a:p xmlns:a="http://schemas.openxmlformats.org/drawingml/2006/main">
            <a:pPr algn="l">
              <a:defRPr sz="1050" b="0">
                <a:solidFill>
                  <a:srgbClr val="D1D1D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1D1D1"/>
                </a:solidFill>
                <a:latin typeface="Aptos"/>
                <a:ea typeface="Aptos"/>
                <a:cs typeface="Aptos"/>
              </a:rPr>
              <a:t>Route recovery rate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A51CC9-35C0-4612-9126-AF5021221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352800"/>
            <a:ext cx="2438400" cy="18573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301986-5482-49C0-9980-59917327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590925"/>
            <a:ext cx="2038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Driver efficiency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CC6432-6A80-4ECD-AA50-E06D21F45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990975"/>
            <a:ext cx="2038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1D1D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1D1D1"/>
                </a:solidFill>
                <a:latin typeface="Aptos"/>
                <a:ea typeface="Aptos"/>
                <a:cs typeface="Aptos"/>
              </a:rPr>
              <a:t>Wait time at curb</a:t>
            </a:r>
          </a:p>
          <a:p xmlns:a="http://schemas.openxmlformats.org/drawingml/2006/main">
            <a:pPr algn="l">
              <a:defRPr sz="1050" b="0">
                <a:solidFill>
                  <a:srgbClr val="D1D1D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1D1D1"/>
                </a:solidFill>
                <a:latin typeface="Aptos"/>
                <a:ea typeface="Aptos"/>
                <a:cs typeface="Aptos"/>
              </a:rPr>
              <a:t>Unproductive approach loops</a:t>
            </a:r>
          </a:p>
          <a:p xmlns:a="http://schemas.openxmlformats.org/drawingml/2006/main">
            <a:pPr algn="l">
              <a:defRPr sz="1050" b="0">
                <a:solidFill>
                  <a:srgbClr val="D1D1D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1D1D1"/>
                </a:solidFill>
                <a:latin typeface="Aptos"/>
                <a:ea typeface="Aptos"/>
                <a:cs typeface="Aptos"/>
              </a:rPr>
              <a:t>Driver cancellation after arrival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75B2A2-D425-4FCF-A299-D98B5AE84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352800"/>
            <a:ext cx="2438400" cy="18573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A1F458-2832-4928-A7D2-4147791BE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590925"/>
            <a:ext cx="2038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Operational health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0A98FE-F979-4855-86B3-A36032CDB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990975"/>
            <a:ext cx="2038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1D1D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1D1D1"/>
                </a:solidFill>
                <a:latin typeface="Aptos"/>
                <a:ea typeface="Aptos"/>
                <a:cs typeface="Aptos"/>
              </a:rPr>
              <a:t>Zone overflow</a:t>
            </a:r>
          </a:p>
          <a:p xmlns:a="http://schemas.openxmlformats.org/drawingml/2006/main">
            <a:pPr algn="l">
              <a:defRPr sz="1050" b="0">
                <a:solidFill>
                  <a:srgbClr val="D1D1D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1D1D1"/>
                </a:solidFill>
                <a:latin typeface="Aptos"/>
                <a:ea typeface="Aptos"/>
                <a:cs typeface="Aptos"/>
              </a:rPr>
              <a:t>Rule compliance exceptions</a:t>
            </a:r>
          </a:p>
          <a:p xmlns:a="http://schemas.openxmlformats.org/drawingml/2006/main">
            <a:pPr algn="l">
              <a:defRPr sz="1050" b="0">
                <a:solidFill>
                  <a:srgbClr val="D1D1D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1D1D1"/>
                </a:solidFill>
                <a:latin typeface="Aptos"/>
                <a:ea typeface="Aptos"/>
                <a:cs typeface="Aptos"/>
              </a:rPr>
              <a:t>Airport-specific incident rate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DA56B3-4772-479B-9861-CEB5DE501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816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B9B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9B9B9"/>
                </a:solidFill>
                <a:latin typeface="Aptos"/>
                <a:ea typeface="Aptos"/>
                <a:cs typeface="Aptos"/>
              </a:rPr>
              <a:t>Illustrative pilot thresholds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45AC75-B556-4326-8E58-8240A46A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48350"/>
            <a:ext cx="942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+3 pp Coordinated Pickup Success   •   −10% airport support contacts   •   no increase in curb dwell time</a:t>
            </a:r>
          </a:p>
        </p:txBody>
      </p:sp>
    </p:spTree>
    <p:extLst>
      <p:ext uri="{BB962C8B-B14F-4D97-AF65-F5344CB8AC3E}">
        <p14:creationId xmlns:p14="http://schemas.microsoft.com/office/powerpoint/2010/main" val="624964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C551C0-B301-48F4-A1F4-9F116BB1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67676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BF93CE-7342-4CF6-BF58-7D4B29CB5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MVP and experimentation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9DE208-E400-444F-A429-30287E5B1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67676"/>
                </a:solidFill>
                <a:latin typeface="Aptos"/>
                <a:ea typeface="Aptos"/>
                <a:cs typeface="Aptos"/>
              </a:rPr>
              <a:t>Start with structured guidance at airports where policy is clear, then earn the right to add real-time optimization.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70E7B3-3A3A-4452-BC18-44F9098BE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8BC3AE-A2CD-48FC-8035-0C2E06E3D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95275"/>
            <a:ext cx="1009650" cy="435102"/>
          </a:xfrm>
          <a:prstGeom xmlns:a="http://schemas.openxmlformats.org/drawingml/2006/main" prst="roundRect">
            <a:avLst>
              <a:gd name="adj" fmla="val 17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dfb83eee44423c"/>
          <a:stretch xmlns:a="http://schemas.openxmlformats.org/drawingml/2006/main"/>
        </p:blipFill>
        <p:spPr>
          <a:xfrm xmlns:a="http://schemas.openxmlformats.org/drawingml/2006/main">
            <a:off x="10382250" y="365843"/>
            <a:ext cx="838200" cy="29396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4F3C6A-17AB-4A20-9084-9C33CAD1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67676"/>
                </a:solidFill>
                <a:latin typeface="Aptos"/>
                <a:ea typeface="Aptos"/>
                <a:cs typeface="Aptos"/>
              </a:rPr>
              <a:t>UBER  /  PRODUCT MANAGEMENT CASE STUDY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5BE6F3-2BD4-4833-8FDE-6242DEF81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86525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67676"/>
                </a:solidFill>
                <a:latin typeface="Aptos"/>
                <a:ea typeface="Aptos"/>
                <a:cs typeface="Aptos"/>
              </a:rPr>
              <a:t>9 / 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D36F38-9912-45AD-998E-C6AF384AB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00250"/>
            <a:ext cx="3238500" cy="2047875"/>
          </a:xfrm>
          <a:prstGeom xmlns:a="http://schemas.openxmlformats.org/drawingml/2006/main" prst="roundRect">
            <a:avLst>
              <a:gd name="adj" fmla="val 7442"/>
            </a:avLst>
          </a:prstGeom>
          <a:solidFill xmlns:a="http://schemas.openxmlformats.org/drawingml/2006/main">
            <a:srgbClr val="0B0B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125FAE-2AEE-45BD-9E50-CFE65E44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247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MVP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263843-2716-4352-AE7D-87C54CE2F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724150"/>
            <a:ext cx="2714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DDD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DDDDD"/>
                </a:solidFill>
                <a:latin typeface="Aptos"/>
                <a:ea typeface="Aptos"/>
                <a:cs typeface="Aptos"/>
              </a:rPr>
              <a:t>Airport configuration for selected terminals</a:t>
            </a:r>
          </a:p>
          <a:p xmlns:a="http://schemas.openxmlformats.org/drawingml/2006/main">
            <a:pPr algn="l">
              <a:defRPr sz="1125" b="0">
                <a:solidFill>
                  <a:srgbClr val="DDDDD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DDDDD"/>
                </a:solidFill>
                <a:latin typeface="Aptos"/>
                <a:ea typeface="Aptos"/>
                <a:cs typeface="Aptos"/>
              </a:rPr>
              <a:t>Terminal and door guidance</a:t>
            </a:r>
          </a:p>
          <a:p xmlns:a="http://schemas.openxmlformats.org/drawingml/2006/main">
            <a:pPr algn="l">
              <a:defRPr sz="1125" b="0">
                <a:solidFill>
                  <a:srgbClr val="DDDDD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DDDDD"/>
                </a:solidFill>
                <a:latin typeface="Aptos"/>
                <a:ea typeface="Aptos"/>
                <a:cs typeface="Aptos"/>
              </a:rPr>
              <a:t>Rider “ready to walk” signal</a:t>
            </a:r>
          </a:p>
          <a:p xmlns:a="http://schemas.openxmlformats.org/drawingml/2006/main">
            <a:pPr algn="l">
              <a:defRPr sz="1125" b="0">
                <a:solidFill>
                  <a:srgbClr val="DDDDD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DDDDD"/>
                </a:solidFill>
                <a:latin typeface="Aptos"/>
                <a:ea typeface="Aptos"/>
                <a:cs typeface="Aptos"/>
              </a:rPr>
              <a:t>Driver sees rider walking ETA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A0C402-386B-443A-8418-CE2FBA351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00250"/>
            <a:ext cx="3238500" cy="2047875"/>
          </a:xfrm>
          <a:prstGeom xmlns:a="http://schemas.openxmlformats.org/drawingml/2006/main" prst="roundRect">
            <a:avLst>
              <a:gd name="adj" fmla="val 7442"/>
            </a:avLst>
          </a:prstGeom>
          <a:solidFill xmlns:a="http://schemas.openxmlformats.org/drawingml/2006/main">
            <a:srgbClr val="F7F7F5"/>
          </a:solidFill>
          <a:ln xmlns:a="http://schemas.openxmlformats.org/drawingml/2006/main" w="9525">
            <a:solidFill>
              <a:srgbClr val="C9C9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934818-AF26-4DDC-AA12-E26886234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247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V2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F72005-7D0D-4261-8900-BFDFB01A4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724150"/>
            <a:ext cx="2714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67676"/>
                </a:solidFill>
                <a:latin typeface="Aptos"/>
                <a:ea typeface="Aptos"/>
                <a:cs typeface="Aptos"/>
              </a:rPr>
              <a:t>Dynamic zone assignment</a:t>
            </a:r>
          </a:p>
          <a:p xmlns:a="http://schemas.openxmlformats.org/drawingml/2006/main">
            <a:pPr algn="l">
              <a:defRPr sz="1125" b="0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67676"/>
                </a:solidFill>
                <a:latin typeface="Aptos"/>
                <a:ea typeface="Aptos"/>
                <a:cs typeface="Aptos"/>
              </a:rPr>
              <a:t>Shared driver-rider Meetpoint state</a:t>
            </a:r>
          </a:p>
          <a:p xmlns:a="http://schemas.openxmlformats.org/drawingml/2006/main">
            <a:pPr algn="l">
              <a:defRPr sz="1125" b="0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67676"/>
                </a:solidFill>
                <a:latin typeface="Aptos"/>
                <a:ea typeface="Aptos"/>
                <a:cs typeface="Aptos"/>
              </a:rPr>
              <a:t>Closure and reroute events</a:t>
            </a:r>
          </a:p>
          <a:p xmlns:a="http://schemas.openxmlformats.org/drawingml/2006/main">
            <a:pPr algn="l">
              <a:defRPr sz="1125" b="0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67676"/>
                </a:solidFill>
                <a:latin typeface="Aptos"/>
                <a:ea typeface="Aptos"/>
                <a:cs typeface="Aptos"/>
              </a:rPr>
              <a:t>Accessible-route preferences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3C91F8-A1B5-4462-978F-B9F9B0E36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000250"/>
            <a:ext cx="3238500" cy="2047875"/>
          </a:xfrm>
          <a:prstGeom xmlns:a="http://schemas.openxmlformats.org/drawingml/2006/main" prst="roundRect">
            <a:avLst>
              <a:gd name="adj" fmla="val 7442"/>
            </a:avLst>
          </a:prstGeom>
          <a:solidFill xmlns:a="http://schemas.openxmlformats.org/drawingml/2006/main">
            <a:srgbClr val="F7F7F5"/>
          </a:solidFill>
          <a:ln xmlns:a="http://schemas.openxmlformats.org/drawingml/2006/main" w="9525">
            <a:solidFill>
              <a:srgbClr val="C9C9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78AC90-2F9D-463F-996E-E85FFD3B1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247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Future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7E1535-46CF-4B6D-8DE7-E76328F75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724150"/>
            <a:ext cx="2714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67676"/>
                </a:solidFill>
                <a:latin typeface="Aptos"/>
                <a:ea typeface="Aptos"/>
                <a:cs typeface="Aptos"/>
              </a:rPr>
              <a:t>Airport partner feeds</a:t>
            </a:r>
          </a:p>
          <a:p xmlns:a="http://schemas.openxmlformats.org/drawingml/2006/main">
            <a:pPr algn="l">
              <a:defRPr sz="1125" b="0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67676"/>
                </a:solidFill>
                <a:latin typeface="Aptos"/>
                <a:ea typeface="Aptos"/>
                <a:cs typeface="Aptos"/>
              </a:rPr>
              <a:t>Zone capacity optimization</a:t>
            </a:r>
          </a:p>
          <a:p xmlns:a="http://schemas.openxmlformats.org/drawingml/2006/main">
            <a:pPr algn="l">
              <a:defRPr sz="1125" b="0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67676"/>
                </a:solidFill>
                <a:latin typeface="Aptos"/>
                <a:ea typeface="Aptos"/>
                <a:cs typeface="Aptos"/>
              </a:rPr>
              <a:t>Arrival prediction from trip signals</a:t>
            </a:r>
          </a:p>
          <a:p xmlns:a="http://schemas.openxmlformats.org/drawingml/2006/main">
            <a:pPr algn="l">
              <a:defRPr sz="1125" b="0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67676"/>
                </a:solidFill>
                <a:latin typeface="Aptos"/>
                <a:ea typeface="Aptos"/>
                <a:cs typeface="Aptos"/>
              </a:rPr>
              <a:t>On-ground assistance handoff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4A8987-E0D5-45D0-8FF4-D307F158D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9580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Experiments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25AFFC-9B12-4817-B38F-F95042142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05375"/>
            <a:ext cx="32385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1F1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A5A884-F5AA-40B3-ACDA-33795940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038725"/>
            <a:ext cx="2895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Door guidance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517CC6-4F2D-44EB-9CA6-546208B17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257800"/>
            <a:ext cx="2895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67676"/>
                </a:solidFill>
                <a:latin typeface="Aptos"/>
                <a:ea typeface="Aptos"/>
                <a:cs typeface="Aptos"/>
              </a:rPr>
              <a:t>Hypothesis: Fewer rider-driver messages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07349C-D069-47D9-A6A7-54B46C18E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562600"/>
            <a:ext cx="2895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Measure: Contact rate / trip completion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03FFDE-BC2F-4CF1-998E-88236D13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905375"/>
            <a:ext cx="32385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1F1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B9BF23-095D-4DD0-BFCC-8802324A6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5038725"/>
            <a:ext cx="2895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Readiness timing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1C4296-C01A-4C5A-B464-84F23C23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5257800"/>
            <a:ext cx="2895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67676"/>
                </a:solidFill>
                <a:latin typeface="Aptos"/>
                <a:ea typeface="Aptos"/>
                <a:cs typeface="Aptos"/>
              </a:rPr>
              <a:t>Hypothesis: Drivers approach after riders arrive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4B81D4-C71B-4002-A21C-A7A79B8F8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5562600"/>
            <a:ext cx="2895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Measure: Curb dwell / wait time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A604FA-0244-4FBB-BB32-C7C38728F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905375"/>
            <a:ext cx="32385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1F1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C9246B-A616-4A7B-AFD0-EDDF38C9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5038725"/>
            <a:ext cx="2895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Landmark language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6CE5C4-C635-426D-BD01-560139CC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5257800"/>
            <a:ext cx="2895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67676"/>
                </a:solidFill>
                <a:latin typeface="Aptos"/>
                <a:ea typeface="Aptos"/>
                <a:cs typeface="Aptos"/>
              </a:rPr>
              <a:t>Hypothesis: More confident route following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044230-7D43-42B1-8A93-92DD44487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5562600"/>
            <a:ext cx="2895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Measure: Route recovery / rider confidence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E22770-1178-4B9B-900B-14E8A4A36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48590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8474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84747"/>
                </a:solidFill>
                <a:latin typeface="Aptos"/>
                <a:ea typeface="Aptos"/>
                <a:cs typeface="Aptos"/>
              </a:rPr>
              <a:t>Not in MVP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1C0CD2-C84B-4CEC-A375-3027E101C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695450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67676"/>
                </a:solidFill>
                <a:latin typeface="Aptos"/>
                <a:ea typeface="Aptos"/>
                <a:cs typeface="Aptos"/>
              </a:rPr>
              <a:t>Indoor AR, universal airport mapping and a rider-driver chatbot add cost before validating the coordination loop.</a:t>
            </a:r>
          </a:p>
        </p:txBody>
      </p:sp>
    </p:spTree>
    <p:extLst>
      <p:ext uri="{BB962C8B-B14F-4D97-AF65-F5344CB8AC3E}">
        <p14:creationId xmlns:p14="http://schemas.microsoft.com/office/powerpoint/2010/main" val="2490877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0B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E1F8A0-64BD-4BFD-A16A-7B593C6E3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42900"/>
            <a:ext cx="1028700" cy="44196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37713d33094a7a"/>
          <a:stretch xmlns:a="http://schemas.openxmlformats.org/drawingml/2006/main"/>
        </p:blipFill>
        <p:spPr>
          <a:xfrm xmlns:a="http://schemas.openxmlformats.org/drawingml/2006/main">
            <a:off x="10344150" y="413557"/>
            <a:ext cx="857250" cy="30064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871DB1-C58D-4B28-A504-AF3EAC28C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67676"/>
                </a:solidFill>
                <a:latin typeface="Aptos"/>
                <a:ea typeface="Aptos"/>
                <a:cs typeface="Aptos"/>
              </a:rPr>
              <a:t>UBER  /  PRODUCT MANAGEMENT CASE STUDY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BEF06F-9534-4636-8D5D-F8DD85901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86525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6767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67676"/>
                </a:solidFill>
                <a:latin typeface="Aptos"/>
                <a:ea typeface="Aptos"/>
                <a:cs typeface="Aptos"/>
              </a:rPr>
              <a:t>10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21079C-CC93-453B-AA0B-F0797579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FAFA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FAFA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A27047-9759-4679-BC34-1C6A0C88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PM point of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C79D71-B52A-4EEF-A9D4-B0ABC3E81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14475"/>
            <a:ext cx="6572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Airport pickup needs a shared plan,</a:t>
            </a:r>
          </a:p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not a better pin.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57B88A-605F-4066-A9B1-5F9C51E96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590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3D3D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3D3D3"/>
                </a:solidFill>
                <a:latin typeface="Aptos"/>
                <a:ea typeface="Aptos"/>
                <a:cs typeface="Aptos"/>
              </a:rPr>
              <a:t>A rider needs certainty about where to walk. A driver needs certainty about when and where to approach. The airport needs both to follow its constraints.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461CE9-F4B3-49EF-BBD4-40051115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609725"/>
            <a:ext cx="347662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E1E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2514BA-C244-4C26-AF9B-4BEB626C9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7335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Rider confidence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962C46-E017-41C3-9341-CD33A11C7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952625"/>
            <a:ext cx="2809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6D6D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6D6D6"/>
                </a:solidFill>
                <a:latin typeface="Aptos"/>
                <a:ea typeface="Aptos"/>
                <a:cs typeface="Aptos"/>
              </a:rPr>
              <a:t>Knows the next physical action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02BCF1-A687-4EBB-A643-F3061E04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95550"/>
            <a:ext cx="347662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E1E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3973A8-1FAD-4FD5-83D4-391F6404C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6193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Driver efficiency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6A9668-A73D-44F5-B20E-46FF0303C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838450"/>
            <a:ext cx="2809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6D6D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6D6D6"/>
                </a:solidFill>
                <a:latin typeface="Aptos"/>
                <a:ea typeface="Aptos"/>
                <a:cs typeface="Aptos"/>
              </a:rPr>
              <a:t>Avoids premature approaches and loops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827E7E-AE84-4E8B-9F37-67E764C7B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381375"/>
            <a:ext cx="347662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E1E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BA6489-85B7-404A-9029-4AA452587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5052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Pickup reliability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AA7B65-EB8E-4656-AEF6-AFE843512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724275"/>
            <a:ext cx="2809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6D6D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6D6D6"/>
                </a:solidFill>
                <a:latin typeface="Aptos"/>
                <a:ea typeface="Aptos"/>
                <a:cs typeface="Aptos"/>
              </a:rPr>
              <a:t>More matches convert to vehicle entry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A5F2AF-37B5-467D-9249-2E45C065A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267200"/>
            <a:ext cx="347662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276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D8A618-9363-4327-9C44-577DF547C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39102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Marketplace health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C0CEB7-1A0A-484A-8AE5-515C61A83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610100"/>
            <a:ext cx="2809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6D6D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6D6D6"/>
                </a:solidFill>
                <a:latin typeface="Aptos"/>
                <a:ea typeface="Aptos"/>
                <a:cs typeface="Aptos"/>
              </a:rPr>
              <a:t>Fewer cancellations and support interventions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132B0C-38AD-41EE-81DF-6C6CED80E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FAFA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FAFAF"/>
                </a:solidFill>
                <a:latin typeface="Aptos"/>
                <a:ea typeface="Aptos"/>
                <a:cs typeface="Aptos"/>
              </a:rPr>
              <a:t>Product thesis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3A5342-95A7-477D-B444-DED002063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Uber can make airport pickup feel dependable by owning the coordination between people, place and policy.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4667A1-F242-4508-8DD8-F47A5AC27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FCF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FCFCF"/>
                </a:solidFill>
                <a:latin typeface="Aptos"/>
                <a:ea typeface="Aptos"/>
                <a:cs typeface="Aptos"/>
              </a:rPr>
              <a:t>Proposal by Anamika Nayak  ·  Product Management Case Study</a:t>
            </a:r>
          </a:p>
        </p:txBody>
      </p:sp>
    </p:spTree>
    <p:extLst>
      <p:ext uri="{BB962C8B-B14F-4D97-AF65-F5344CB8AC3E}">
        <p14:creationId xmlns:p14="http://schemas.microsoft.com/office/powerpoint/2010/main" val="1597921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2026-09-11T13:37:35.1140000Z</dcterms:created>
  <dcterms:modified xsi:type="dcterms:W3CDTF">2026-09-11T13:37:35.1140000Z</dcterms:modified>
</coreProperties>
</file>