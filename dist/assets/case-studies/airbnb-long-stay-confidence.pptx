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2656b67491d4ffd" /><Relationship Type="http://schemas.openxmlformats.org/officeDocument/2006/relationships/extended-properties" Target="/docProps/app.xml" Id="R14af190fc5534155" /><Relationship Type="http://schemas.openxmlformats.org/officeDocument/2006/relationships/officeDocument" Target="/ppt/presentation.xml" Id="Rfaae0f3647ad483c" /></Relationships>
</file>

<file path=ppt/presentation.xml><?xml version="1.0" encoding="utf-8"?>
<p:presentation xmlns:p="http://schemas.openxmlformats.org/presentationml/2006/main">
  <p:sldMasterIdLst>
    <p:sldMasterId xmlns:r="http://schemas.openxmlformats.org/officeDocument/2006/relationships" id="2147483648" r:id="Rb10ad4c4b02f4d0b"/>
  </p:sldMasterIdLst>
  <p:notesMasterIdLst>
    <p:notesMasterId xmlns:r="http://schemas.openxmlformats.org/officeDocument/2006/relationships" r:id="Rf5be2aa2effe426a"/>
  </p:notesMasterIdLst>
  <p:sldIdLst>
    <p:sldId xmlns:r="http://schemas.openxmlformats.org/officeDocument/2006/relationships" id="256" r:id="Re5983759f5704877"/>
    <p:sldId xmlns:r="http://schemas.openxmlformats.org/officeDocument/2006/relationships" id="257" r:id="Rbfd6e7ba183544cf"/>
    <p:sldId xmlns:r="http://schemas.openxmlformats.org/officeDocument/2006/relationships" id="258" r:id="R856495fbaf24446f"/>
    <p:sldId xmlns:r="http://schemas.openxmlformats.org/officeDocument/2006/relationships" id="259" r:id="R800d1574e93a4fc0"/>
    <p:sldId xmlns:r="http://schemas.openxmlformats.org/officeDocument/2006/relationships" id="260" r:id="R8feee0f4b555488a"/>
    <p:sldId xmlns:r="http://schemas.openxmlformats.org/officeDocument/2006/relationships" id="261" r:id="Rb598e0407a3a4663"/>
    <p:sldId xmlns:r="http://schemas.openxmlformats.org/officeDocument/2006/relationships" id="262" r:id="Rf3db75773eda4788"/>
    <p:sldId xmlns:r="http://schemas.openxmlformats.org/officeDocument/2006/relationships" id="263" r:id="R61d1e50bd9034ef5"/>
    <p:sldId xmlns:r="http://schemas.openxmlformats.org/officeDocument/2006/relationships" id="264" r:id="Rdc7d760c01d24299"/>
    <p:sldId xmlns:r="http://schemas.openxmlformats.org/officeDocument/2006/relationships" id="265" r:id="Rd1678069263a4c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16298688684d4c" /><Relationship Type="http://schemas.openxmlformats.org/officeDocument/2006/relationships/slideMaster" Target="/ppt/slideMasters/slideMaster1.xml" Id="Rb10ad4c4b02f4d0b" /><Relationship Type="http://schemas.openxmlformats.org/officeDocument/2006/relationships/notesMaster" Target="/ppt/notesMasters/notesMaster1.xml" Id="Rf5be2aa2effe426a" /><Relationship Type="http://schemas.openxmlformats.org/officeDocument/2006/relationships/presProps" Target="/ppt/presProps.xml" Id="R021d92d935734abc" /><Relationship Type="http://schemas.openxmlformats.org/officeDocument/2006/relationships/tableStyles" Target="/ppt/tableStyles.xml" Id="Rad5e4462b64a4ee1" /><Relationship Type="http://schemas.openxmlformats.org/officeDocument/2006/relationships/slide" Target="/ppt/slides/slide1.xml" Id="Re5983759f5704877" /><Relationship Type="http://schemas.openxmlformats.org/officeDocument/2006/relationships/slide" Target="/ppt/slides/slide2.xml" Id="Rbfd6e7ba183544cf" /><Relationship Type="http://schemas.openxmlformats.org/officeDocument/2006/relationships/slide" Target="/ppt/slides/slide3.xml" Id="R856495fbaf24446f" /><Relationship Type="http://schemas.openxmlformats.org/officeDocument/2006/relationships/slide" Target="/ppt/slides/slide4.xml" Id="R800d1574e93a4fc0" /><Relationship Type="http://schemas.openxmlformats.org/officeDocument/2006/relationships/slide" Target="/ppt/slides/slide5.xml" Id="R8feee0f4b555488a" /><Relationship Type="http://schemas.openxmlformats.org/officeDocument/2006/relationships/slide" Target="/ppt/slides/slide6.xml" Id="Rb598e0407a3a4663" /><Relationship Type="http://schemas.openxmlformats.org/officeDocument/2006/relationships/slide" Target="/ppt/slides/slide7.xml" Id="Rf3db75773eda4788" /><Relationship Type="http://schemas.openxmlformats.org/officeDocument/2006/relationships/slide" Target="/ppt/slides/slide8.xml" Id="R61d1e50bd9034ef5" /><Relationship Type="http://schemas.openxmlformats.org/officeDocument/2006/relationships/slide" Target="/ppt/slides/slide9.xml" Id="Rdc7d760c01d24299" /><Relationship Type="http://schemas.openxmlformats.org/officeDocument/2006/relationships/slide" Target="/ppt/slides/slide10.xml" Id="Rd1678069263a4c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e7dbf1ba3549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407d9972954c3a" /><Relationship Type="http://schemas.openxmlformats.org/officeDocument/2006/relationships/notesMaster" Target="/ppt/notesMasters/notesMaster1.xml" Id="R0b158add5e4040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a2c8b0f76d4e22" /><Relationship Type="http://schemas.openxmlformats.org/officeDocument/2006/relationships/notesMaster" Target="/ppt/notesMasters/notesMaster1.xml" Id="R93538c611bc542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430efbc21e47e8" /><Relationship Type="http://schemas.openxmlformats.org/officeDocument/2006/relationships/notesMaster" Target="/ppt/notesMasters/notesMaster1.xml" Id="Rd61398afe5dc4d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4d0491e4c84f43" /><Relationship Type="http://schemas.openxmlformats.org/officeDocument/2006/relationships/notesMaster" Target="/ppt/notesMasters/notesMaster1.xml" Id="R26a47e90ba8441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baa4ccab5a45d3" /><Relationship Type="http://schemas.openxmlformats.org/officeDocument/2006/relationships/notesMaster" Target="/ppt/notesMasters/notesMaster1.xml" Id="R1900797d04a84a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5027baf4564bd6" /><Relationship Type="http://schemas.openxmlformats.org/officeDocument/2006/relationships/notesMaster" Target="/ppt/notesMasters/notesMaster1.xml" Id="R04504d2b127e4f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b7f93d48274bad" /><Relationship Type="http://schemas.openxmlformats.org/officeDocument/2006/relationships/notesMaster" Target="/ppt/notesMasters/notesMaster1.xml" Id="R885bd49b3f4544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fc4221dd1f4d23" /><Relationship Type="http://schemas.openxmlformats.org/officeDocument/2006/relationships/notesMaster" Target="/ppt/notesMasters/notesMaster1.xml" Id="R54a779b73f0c4d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442f5d30c84d20" /><Relationship Type="http://schemas.openxmlformats.org/officeDocument/2006/relationships/notesMaster" Target="/ppt/notesMasters/notesMaster1.xml" Id="R113b92b45e1240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6d9c17a0c7418a" /><Relationship Type="http://schemas.openxmlformats.org/officeDocument/2006/relationships/notesMaster" Target="/ppt/notesMasters/notesMaster1.xml" Id="Rbb57e120f8c04d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long stay is a decision about daily life. For a remote worker, the home also needs to support their working day. My proposal is a Long-stay brief that helps a guest understand the work setup and financial commitment before booking. I would begin with domestic stays of 28 to 90 nights, learn whether clearer information produces better matches, and then evaluate stays up to six months. This is an independent proposal based on public research. It includes no Airbnb internal data or claimed experiment results.</a:t>
            </a:r>
          </a:p>
          <a:p xmlns:a="http://schemas.openxmlformats.org/drawingml/2006/main">
            <a:r>
              <a:t/>
            </a:r>
          </a:p>
          <a:p xmlns:a="http://schemas.openxmlformats.org/drawingml/2006/main">
            <a:r>
              <a:t>Sources and scope (accessed 11 September 2026):</a:t>
            </a:r>
          </a:p>
          <a:p xmlns:a="http://schemas.openxmlformats.org/drawingml/2006/main">
            <a:r>
              <a:t>https://news.airbnb.com/media-assets</a:t>
            </a:r>
          </a:p>
          <a:p xmlns:a="http://schemas.openxmlformats.org/drawingml/2006/main">
            <a:r>
              <a:t>Cover photo: Airbnb Newsroom, Work from anywhere, São Paulo, Henri. https://news-assets.withairbnb.com/wp-content/uploads/sites/21/2022/10/240282954_Plus_SaoPaulo_Henri_32047993-0082.jpg</a:t>
            </a:r>
          </a:p>
          <a:p xmlns:a="http://schemas.openxmlformats.org/drawingml/2006/main">
            <a:r>
              <a:t>Logo: https://news.airbnb.com/wp-content/uploads/sites/21/2017/01/airbnb_vertical_lockup_web.png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MBO’s research describes longer stops: the average rose from 5.4 weeks in 2023 to 6.4 weeks in 2025. Financial stress and personal safety also appear among reported challenges. These findings support investigating a housing decision with higher stakes, but they do not establish that Airbnb causes these problems. The population is U.S. digital nomads, which overlaps only partly with relocating remote workers. I would use this evidence to frame discovery, then validate the specific booking barriers with guests who recently booked or abandoned a long stay.</a:t>
            </a:r>
          </a:p>
          <a:p xmlns:a="http://schemas.openxmlformats.org/drawingml/2006/main">
            <a:r>
              <a:t/>
            </a:r>
          </a:p>
          <a:p xmlns:a="http://schemas.openxmlformats.org/drawingml/2006/main">
            <a:r>
              <a:t>Sources and scope (accessed 11 September 2026):</a:t>
            </a:r>
          </a:p>
          <a:p xmlns:a="http://schemas.openxmlformats.org/drawingml/2006/main">
            <a:r>
              <a:t>https://www.mbopartners.com/state-of-independence/digital-nomads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prioritize people with a confirmed move and a regular work schedule. That gives the first release a specific job: choose one dependable home for the next few months. The journey tensions shown here are hypotheses, not interview findings. My discovery plan includes twelve guests, split between completed and abandoned bookings, eight hosts with different long-stay experience, and six task tests. I would examine actual shortlists and messages. If insufficient inventory or affordability dominates, I would revise the brief before building it. Families and cross-border moves add needs for a later release.</a:t>
            </a:r>
          </a:p>
          <a:p xmlns:a="http://schemas.openxmlformats.org/drawingml/2006/main">
            <a:r>
              <a:t/>
            </a:r>
          </a:p>
          <a:p xmlns:a="http://schemas.openxmlformats.org/drawingml/2006/main">
            <a:r>
              <a:t>Sources and scope (accessed 11 September 2026):</a:t>
            </a:r>
          </a:p>
          <a:p xmlns:a="http://schemas.openxmlformats.org/drawingml/2006/main">
            <a:r>
              <a:t>https://www.airbnb.com/help/article/2584</a:t>
            </a:r>
          </a:p>
          <a:p xmlns:a="http://schemas.openxmlformats.org/drawingml/2006/main">
            <a:r>
              <a:t>https://www.mbopartners.com/state-of-independence/digital-nomads</a:t>
            </a:r>
          </a:p>
          <a:p xmlns:a="http://schemas.openxmlformats.org/drawingml/2006/main">
            <a:r>
              <a:t>All segment choices, journey diagnoses and research sample counts are proposed. No primary user research has been conducted.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proposal builds on existing capabilities. Monthly search already highlights relevant amenities. Airbnb supports wifi testing, and fee-inclusive search pricing became standard globally in April 2025, with tax treatment varying by market. Monthly payment options also exist, with exceptions such as domestic stays in India. I would test whether guests can bring these facts together when comparing homes. The proposed improvement is a concise brief that exposes evidence, payment timing and applicable terms together. This review uses public help documentation rather than a logged-in audit across every market.</a:t>
            </a:r>
          </a:p>
          <a:p xmlns:a="http://schemas.openxmlformats.org/drawingml/2006/main">
            <a:r>
              <a:t/>
            </a:r>
          </a:p>
          <a:p xmlns:a="http://schemas.openxmlformats.org/drawingml/2006/main">
            <a:r>
              <a:t>Sources and scope (accessed 11 September 2026):</a:t>
            </a:r>
          </a:p>
          <a:p xmlns:a="http://schemas.openxmlformats.org/drawingml/2006/main">
            <a:r>
              <a:t>https://www.airbnb.com/help/article/2584</a:t>
            </a:r>
          </a:p>
          <a:p xmlns:a="http://schemas.openxmlformats.org/drawingml/2006/main">
            <a:r>
              <a:t>https://www.airbnb.com/help/article/3003</a:t>
            </a:r>
          </a:p>
          <a:p xmlns:a="http://schemas.openxmlformats.org/drawingml/2006/main">
            <a:r>
              <a:t>https://news.airbnb.com/total-price-display-is-now-standard-globally</a:t>
            </a:r>
          </a:p>
          <a:p xmlns:a="http://schemas.openxmlformats.org/drawingml/2006/main">
            <a:r>
              <a:t>https://www.airbnb.com/help/article/245</a:t>
            </a:r>
          </a:p>
          <a:p xmlns:a="http://schemas.openxmlformats.org/drawingml/2006/main">
            <a:r>
              <a:t>https://www.airbnb.com/help/article/1361</a:t>
            </a:r>
          </a:p>
          <a:p xmlns:a="http://schemas.openxmlformats.org/drawingml/2006/main">
            <a:r>
              <a:t>Editorial image: https://news-assets.withairbnb.com/wp-content/uploads/sites/21/2025/04/28979971-0005.jpg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size this from eligible search demand rather than multiplying a global nomad population by a rental price. In this illustrative model, one hundred thousand quarterly searchers and a half percentage point conversion lift produce five hundred additional bookings. The sensitivity range is two hundred to one thousand. None of those inputs comes from Airbnb. Before funding a pilot, I would measure eligible unique searchers, baseline conversion, and the share with enough compliant homes for their dates. The business case must subtract support, refunds and any displacement of other bookings.</a:t>
            </a:r>
          </a:p>
          <a:p xmlns:a="http://schemas.openxmlformats.org/drawingml/2006/main">
            <a:r>
              <a:t/>
            </a:r>
          </a:p>
          <a:p xmlns:a="http://schemas.openxmlformats.org/drawingml/2006/main">
            <a:r>
              <a:t>Sources and scope (accessed 11 September 2026):</a:t>
            </a:r>
          </a:p>
          <a:p xmlns:a="http://schemas.openxmlformats.org/drawingml/2006/main">
            <a:r>
              <a:t>Sizing is an illustrative calculation: eligible unique searchers × absolute conversion lift. All values and the quarterly period are assumptions.</a:t>
            </a:r>
          </a:p>
          <a:p xmlns:a="http://schemas.openxmlformats.org/drawingml/2006/main">
            <a:r>
              <a:t>Required internal evidence: eligible demand, available inventory, baseline conversion, net contribution, and displacement.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brief sits on the listing and returns at checkout. It makes the host’s workspace evidence easy to inspect, distinguishes a measured wifi result from a guarantee, and makes unknowns visible. On the right, a sixty-night example splits a four-thousand-two-hundred-dollar stay into two charges. These are illustrative figures for a market that supports installments. The cancellation control would use Airbnb’s authoritative policy calculation for the selected dates. It should show both the refund and remaining liability, with required agreements and any disclosed extras available before commitment.</a:t>
            </a:r>
          </a:p>
          <a:p xmlns:a="http://schemas.openxmlformats.org/drawingml/2006/main">
            <a:r>
              <a:t/>
            </a:r>
          </a:p>
          <a:p xmlns:a="http://schemas.openxmlformats.org/drawingml/2006/main">
            <a:r>
              <a:t>Sources and scope (accessed 11 September 2026):</a:t>
            </a:r>
          </a:p>
          <a:p xmlns:a="http://schemas.openxmlformats.org/drawingml/2006/main">
            <a:r>
              <a:t>https://www.airbnb.com/help/article/245</a:t>
            </a:r>
          </a:p>
          <a:p xmlns:a="http://schemas.openxmlformats.org/drawingml/2006/main">
            <a:r>
              <a:t>https://www.airbnb.com/help/article/1361</a:t>
            </a:r>
          </a:p>
          <a:p xmlns:a="http://schemas.openxmlformats.org/drawingml/2006/main">
            <a:r>
              <a:t>https://www.airbnb.com/help/article/3003</a:t>
            </a:r>
          </a:p>
          <a:p xmlns:a="http://schemas.openxmlformats.org/drawingml/2006/main">
            <a:r>
              <a:t>https://www.airbnb.com/help/article/805</a:t>
            </a:r>
          </a:p>
          <a:p xmlns:a="http://schemas.openxmlformats.org/drawingml/2006/main">
            <a:r>
              <a:t>Proposed interface, not an Airbnb screenshot. Example assumes equal 30-night periods, all collected taxes and fees included, no separately charged extras.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ship the evidence fields and financial brief together because they address different parts of the same commitment. Payments, policy calculations and messaging should reuse existing systems. I would defer physical inspections and trial nights because they introduce operational costs or shift cancellation risk onto hosts. Hosts would opt into structured evidence, retain their pricing and applicable cancellation terms, and see the same brief guests see. The incentive hypothesis is fewer repetitive questions and better matches. I would monitor setup effort and net earnings per available night to verify that benefit.</a:t>
            </a:r>
          </a:p>
          <a:p xmlns:a="http://schemas.openxmlformats.org/drawingml/2006/main">
            <a:r>
              <a:t/>
            </a:r>
          </a:p>
          <a:p xmlns:a="http://schemas.openxmlformats.org/drawingml/2006/main">
            <a:r>
              <a:t>Sources and scope (accessed 11 September 2026):</a:t>
            </a:r>
          </a:p>
          <a:p xmlns:a="http://schemas.openxmlformats.org/drawingml/2006/main">
            <a:r>
              <a:t>https://www.airbnb.com/help/article/1361</a:t>
            </a:r>
          </a:p>
          <a:p xmlns:a="http://schemas.openxmlformats.org/drawingml/2006/main">
            <a:r>
              <a:t>Prioritization, scope and expected host benefits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Trust comes from knowing what a claim means and what happens if it fails. I would timestamp host evidence and preserve the brief at booking, while allowing hosts to correct errors and appeal audit decisions. A speed test cannot guarantee daily connectivity. Serious mismatches should route through existing AirCover review, with its reporting requirements and availability limits. I would never promise automatic refunds for every inconvenience. Monthly stays can also create tenancy obligations. Legal and trust teams would approve market eligibility, disclosure rules and any required agreements before the experiment opens.</a:t>
            </a:r>
          </a:p>
          <a:p xmlns:a="http://schemas.openxmlformats.org/drawingml/2006/main">
            <a:r>
              <a:t/>
            </a:r>
          </a:p>
          <a:p xmlns:a="http://schemas.openxmlformats.org/drawingml/2006/main">
            <a:r>
              <a:t>Sources and scope (accessed 11 September 2026):</a:t>
            </a:r>
          </a:p>
          <a:p xmlns:a="http://schemas.openxmlformats.org/drawingml/2006/main">
            <a:r>
              <a:t>https://www.airbnb.com/help/article/3003</a:t>
            </a:r>
          </a:p>
          <a:p xmlns:a="http://schemas.openxmlformats.org/drawingml/2006/main">
            <a:r>
              <a:t>https://www.airbnb.com/help/article/3218</a:t>
            </a:r>
          </a:p>
          <a:p xmlns:a="http://schemas.openxmlformats.org/drawingml/2006/main">
            <a:r>
              <a:t>https://www.airbnb.com/help/article/805</a:t>
            </a:r>
          </a:p>
          <a:p xmlns:a="http://schemas.openxmlformats.org/drawingml/2006/main">
            <a:r>
              <a:t>Host editorial image: https://news-assets.withairbnb.com/wp-content/uploads/sites/21/2022/10/217430438_N1010049.jpg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randomize eligible guests persistently and show both arms the same participating inventory. The primary metric counts successful day-seven stays per eligible searcher, so abandoned bookings and early failures matter. I would set power and duration after measuring the baseline and booking lead time, then wait for arrival outcomes to mature. The numerical guardrails shown are proposed tolerances. Shared inventory can create interference, so I would check total host earnings and displacement, and confirm results with a market-level holdout before scaling. Completion and early termination remain longer-term follow-ups.</a:t>
            </a:r>
          </a:p>
          <a:p xmlns:a="http://schemas.openxmlformats.org/drawingml/2006/main">
            <a:r>
              <a:t/>
            </a:r>
          </a:p>
          <a:p xmlns:a="http://schemas.openxmlformats.org/drawingml/2006/main">
            <a:r>
              <a:t>Sources and scope (accessed 11 September 2026):</a:t>
            </a:r>
          </a:p>
          <a:p xmlns:a="http://schemas.openxmlformats.org/drawingml/2006/main">
            <a:r>
              <a:t>All metrics, randomization choices and thresholds are proposed.</a:t>
            </a:r>
          </a:p>
          <a:p xmlns:a="http://schemas.openxmlformats.org/drawingml/2006/main">
            <a:r>
              <a:t>Primary denominator: unique randomized eligible searchers in a fixed enrollment cohort. Numerator: searchers with at least one qualifying booking that reaches day 7.</a:t>
            </a:r>
          </a:p>
          <a:p xmlns:a="http://schemas.openxmlformats.org/drawingml/2006/main">
            <a:r>
              <a:t>Before launch: pre-register booking attribution window from observed lead times, unresolved-mismatch taxonomy, minimum detectable effect, power, and multiplicity treatment. Analyze intention-to-treat.</a:t>
            </a:r>
          </a:p>
          <a:p xmlns:a="http://schemas.openxmlformats.org/drawingml/2006/main">
            <a:r>
              <a:t>Host net earnings per available night includes all bookings on participating listings, using a pre-defined availability denominator. Stop early for credible severe safety harm.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start with two domestic markets selected for qualified demand, enough continuous inventory, and clear operating requirements. Market names should follow that diligence. The pilot moves forward only if the brief improves successful stays without harming hosts or increasing support costs beyond the agreed tolerance. Stays of ninety-one to one hundred eighty nights require longer outcome tracking and fresh local review. Cross-border expansion adds payment and agreement differences. The final product bet is that clearer commitments improve matching. If inventory or economics is the real constraint, the evidence should stop this rollout.</a:t>
            </a:r>
          </a:p>
          <a:p xmlns:a="http://schemas.openxmlformats.org/drawingml/2006/main">
            <a:r>
              <a:t/>
            </a:r>
          </a:p>
          <a:p xmlns:a="http://schemas.openxmlformats.org/drawingml/2006/main">
            <a:r>
              <a:t>Sources and scope (accessed 11 September 2026):</a:t>
            </a:r>
          </a:p>
          <a:p xmlns:a="http://schemas.openxmlformats.org/drawingml/2006/main">
            <a:r>
              <a:t>https://www.airbnb.com/help/article/805</a:t>
            </a:r>
          </a:p>
          <a:p xmlns:a="http://schemas.openxmlformats.org/drawingml/2006/main">
            <a:r>
              <a:t>https://www.airbnb.com/help/article/245</a:t>
            </a:r>
          </a:p>
          <a:p xmlns:a="http://schemas.openxmlformats.org/drawingml/2006/main">
            <a:r>
              <a:t>All rollout stages, duration bands, market counts and gates are proposed.</a:t>
            </a:r>
          </a:p>
          <a:p xmlns:a="http://schemas.openxmlformats.org/drawingml/2006/main">
            <a:r>
              <a:t>Source index: https://www.mbopartners.com/state-of-independence/digital-nomads</a:t>
            </a:r>
          </a:p>
          <a:p xmlns:a="http://schemas.openxmlformats.org/drawingml/2006/main">
            <a:r>
              <a:t>https://www.airbnb.com/help/article/245</a:t>
            </a:r>
          </a:p>
          <a:p xmlns:a="http://schemas.openxmlformats.org/drawingml/2006/main">
            <a:r>
              <a:t>https://www.airbnb.com/help/article/1361</a:t>
            </a:r>
          </a:p>
          <a:p xmlns:a="http://schemas.openxmlformats.org/drawingml/2006/main">
            <a:r>
              <a:t>https://www.airbnb.com/help/article/3003</a:t>
            </a:r>
          </a:p>
          <a:p xmlns:a="http://schemas.openxmlformats.org/drawingml/2006/main">
            <a:r>
              <a:t>https://www.airbnb.com/help/article/2584</a:t>
            </a:r>
          </a:p>
          <a:p xmlns:a="http://schemas.openxmlformats.org/drawingml/2006/main">
            <a:r>
              <a:t>https://www.airbnb.com/help/article/3218</a:t>
            </a:r>
          </a:p>
          <a:p xmlns:a="http://schemas.openxmlformats.org/drawingml/2006/main">
            <a:r>
              <a:t>https://www.airbnb.com/help/article/805</a:t>
            </a:r>
          </a:p>
          <a:p xmlns:a="http://schemas.openxmlformats.org/drawingml/2006/main">
            <a:r>
              <a:t>https://news.airbnb.com/total-price-display-is-now-standard-globally</a:t>
            </a:r>
          </a:p>
          <a:p xmlns:a="http://schemas.openxmlformats.org/drawingml/2006/main">
            <a:r>
              <a:t>https://news.airbnb.com/media-assets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7d74fbb4864b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1e62cc1ffb4a1c" /><Relationship Type="http://schemas.openxmlformats.org/officeDocument/2006/relationships/slideLayout" Target="/ppt/slideLayouts/slideLayout1.xml" Id="Radd8b29438a84d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d8b29438a84d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9a028de5e54aba" /><Relationship Type="http://schemas.openxmlformats.org/officeDocument/2006/relationships/image" Target="/ppt/media/image.jpeg" Id="R56bd5dee726f492f" /><Relationship Type="http://schemas.openxmlformats.org/officeDocument/2006/relationships/image" Target="/ppt/media/image.png" Id="R772b13b60d1940df" /><Relationship Type="http://schemas.openxmlformats.org/officeDocument/2006/relationships/notesSlide" Target="/ppt/notesSlides/notesSlide1.xml" Id="R4515dd63f94643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f33bc35c174c00" /><Relationship Type="http://schemas.openxmlformats.org/officeDocument/2006/relationships/chart" Target="/ppt/slides/charts/chart1.xml" Id="Rbadcd19927204824" /><Relationship Type="http://schemas.openxmlformats.org/officeDocument/2006/relationships/notesSlide" Target="/ppt/notesSlides/notesSlide2.xml" Id="R5fe345f1325e43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046793703344d4" /><Relationship Type="http://schemas.openxmlformats.org/officeDocument/2006/relationships/notesSlide" Target="/ppt/notesSlides/notesSlide3.xml" Id="R0a77c6d38e8740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78fe2aaedf4048" /><Relationship Type="http://schemas.openxmlformats.org/officeDocument/2006/relationships/image" Target="/ppt/media/image2.jpeg" Id="R17592f49b55f48a7" /><Relationship Type="http://schemas.openxmlformats.org/officeDocument/2006/relationships/notesSlide" Target="/ppt/notesSlides/notesSlide4.xml" Id="R205b9cf858374c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fb83b3fa754b5e" /><Relationship Type="http://schemas.openxmlformats.org/officeDocument/2006/relationships/notesSlide" Target="/ppt/notesSlides/notesSlide5.xml" Id="R0439f502fbd548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442242caf84188" /><Relationship Type="http://schemas.openxmlformats.org/officeDocument/2006/relationships/notesSlide" Target="/ppt/notesSlides/notesSlide6.xml" Id="R686c7f19664b43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70c6cb1f834b24" /><Relationship Type="http://schemas.openxmlformats.org/officeDocument/2006/relationships/notesSlide" Target="/ppt/notesSlides/notesSlide7.xml" Id="R9938e40c13c64b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668fa7785c642c2" /><Relationship Type="http://schemas.openxmlformats.org/officeDocument/2006/relationships/image" Target="/ppt/media/image3.jpeg" Id="R5f88f95cb4be47fe" /><Relationship Type="http://schemas.openxmlformats.org/officeDocument/2006/relationships/notesSlide" Target="/ppt/notesSlides/notesSlide8.xml" Id="Ra76be66682d34d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76681cb6e1f4d64" /><Relationship Type="http://schemas.openxmlformats.org/officeDocument/2006/relationships/notesSlide" Target="/ppt/notesSlides/notesSlide9.xml" Id="R6e9ebcf3ed324e7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0318bcfbf064c4f" /><Relationship Type="http://schemas.openxmlformats.org/officeDocument/2006/relationships/notesSlide" Target="/ppt/notesSlides/notesSlide10.xml" Id="Rb4a2f3557dcd44c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Average weeks per stop</c:v>
          </c:tx>
          <c:spPr>
            <a:solidFill xmlns:a="http://schemas.openxmlformats.org/drawingml/2006/main">
              <a:srgbClr val="D94750"/>
            </a:solidFill>
          </c:spPr>
          <c:cat>
            <c:numRef>
              <c:f>'Chart Data'!$A$2:$A$4</c:f>
              <c:numCache>
                <c:formatCode>General</c:formatCode>
                <c:ptCount val="3"/>
                <c:pt idx="0">
                  <c:v>2023</c:v>
                </c:pt>
                <c:pt idx="1">
                  <c:v>2024</c:v>
                </c:pt>
                <c:pt idx="2">
                  <c:v>2025</c:v>
                </c:pt>
              </c:numCache>
            </c:numRef>
          </c:cat>
          <c:val>
            <c:numRef>
              <c:f>'Chart Data'!$B$2:$B$4</c:f>
              <c:numCache>
                <c:formatCode>General</c:formatCode>
                <c:ptCount val="3"/>
                <c:pt idx="0">
                  <c:v>5.4</c:v>
                </c:pt>
                <c:pt idx="1">
                  <c:v>5.7</c:v>
                </c:pt>
                <c:pt idx="2">
                  <c:v>6.4</c:v>
                </c:pt>
              </c:numCache>
            </c:numRef>
          </c:val>
        </c:ser>
        <c:dLbls>
          <c:txPr>
            <a:bodyPr xmlns:a="http://schemas.openxmlformats.org/drawingml/2006/main" anchorCtr="1"/>
            <a:lstStyle xmlns:a="http://schemas.openxmlformats.org/drawingml/2006/main"/>
            <a:p xmlns:a="http://schemas.openxmlformats.org/drawingml/2006/main">
              <a:pPr>
                <a:defRPr sz="1650" b="1">
                  <a:latin typeface="Aptos"/>
                  <a:ea typeface="Aptos"/>
                  <a:cs typeface="Apto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ptos"/>
                <a:ea typeface="Aptos"/>
                <a:cs typeface="Aptos"/>
              </a:defRPr>
            </a:pPr>
          </a:p>
        </c:txPr>
        <c:crossAx val="48672768"/>
      </c:catAx>
      <c:valAx>
        <c:axId val="48672768"/>
        <c:scaling>
          <c:orientation val="minMax"/>
          <c:max val="8"/>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ptos"/>
                <a:ea typeface="Aptos"/>
                <a:cs typeface="Aptos"/>
              </a:defRPr>
            </a:pPr>
          </a:p>
        </c:txPr>
        <c:crossAx val="48650112"/>
        <c:crossBetween val="between"/>
        <c:majorUnit val="2"/>
      </c:valAx>
      <c:spPr>
        <a:solidFill xmlns:a="http://schemas.openxmlformats.org/drawingml/2006/main">
          <a:srgbClr val="F8F5F0"/>
        </a:solidFill>
      </c:spPr>
    </c:plotArea>
    <c:plotVisOnly val="1"/>
  </c:chart>
  <c:spPr>
    <a:solidFill xmlns:a="http://schemas.openxmlformats.org/drawingml/2006/main">
      <a:srgbClr val="F8F5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6bd5dee726f492f"/>
          <a:srcRect xmlns:a="http://schemas.openxmlformats.org/drawingml/2006/main" l="19695" t="0" r="19695" b="0"/>
          <a:stretch xmlns:a="http://schemas.openxmlformats.org/drawingml/2006/main">
            <a:fillRect l="0" t="0" r="0" b="0"/>
          </a:stretch>
        </p:blipFill>
        <p:spPr>
          <a:xfrm xmlns:a="http://schemas.openxmlformats.org/drawingml/2006/main">
            <a:off x="5953125" y="0"/>
            <a:ext cx="6238875"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72b13b60d1940df"/>
          <a:stretch xmlns:a="http://schemas.openxmlformats.org/drawingml/2006/main"/>
        </p:blipFill>
        <p:spPr>
          <a:xfrm xmlns:a="http://schemas.openxmlformats.org/drawingml/2006/main">
            <a:off x="742776" y="419100"/>
            <a:ext cx="609948" cy="666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5C70AC4-60D0-4550-AA8E-5B79903C84F8}"/>
              </a:ext>
            </a:extLst>
          </p:cNvPr>
          <p:cNvSpPr>
            <a:spLocks xmlns:a="http://schemas.openxmlformats.org/drawingml/2006/main" noGrp="1"/>
          </p:cNvSpPr>
          <p:nvPr/>
        </p:nvSpPr>
        <p:spPr>
          <a:xfrm xmlns:a="http://schemas.openxmlformats.org/drawingml/2006/main">
            <a:off x="609600" y="1638300"/>
            <a:ext cx="5286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050" b="1">
                <a:solidFill>
                  <a:srgbClr val="242424"/>
                </a:solidFill>
                <a:latin typeface="Aptos"/>
                <a:ea typeface="Aptos"/>
                <a:cs typeface="Aptos"/>
              </a:defRPr>
            </a:pPr>
            <a:r>
              <a:rPr sz="4050" b="1">
                <a:solidFill>
                  <a:srgbClr val="242424"/>
                </a:solidFill>
                <a:latin typeface="Aptos"/>
                <a:ea typeface="Aptos"/>
                <a:cs typeface="Aptos"/>
              </a:rPr>
              <a:t>Making long-stay</a:t>
            </a:r>
          </a:p>
          <a:p xmlns:a="http://schemas.openxmlformats.org/drawingml/2006/main">
            <a:pPr>
              <a:defRPr sz="4050" b="1">
                <a:solidFill>
                  <a:srgbClr val="242424"/>
                </a:solidFill>
                <a:latin typeface="Aptos"/>
                <a:ea typeface="Aptos"/>
                <a:cs typeface="Aptos"/>
              </a:defRPr>
            </a:pPr>
            <a:r>
              <a:rPr sz="4050" b="1">
                <a:solidFill>
                  <a:srgbClr val="242424"/>
                </a:solidFill>
                <a:latin typeface="Aptos"/>
                <a:ea typeface="Aptos"/>
                <a:cs typeface="Aptos"/>
              </a:rPr>
              <a:t>booking easier</a:t>
            </a:r>
          </a:p>
          <a:p xmlns:a="http://schemas.openxmlformats.org/drawingml/2006/main">
            <a:pPr>
              <a:defRPr sz="4050" b="1">
                <a:solidFill>
                  <a:srgbClr val="242424"/>
                </a:solidFill>
                <a:latin typeface="Aptos"/>
                <a:ea typeface="Aptos"/>
                <a:cs typeface="Aptos"/>
              </a:defRPr>
            </a:pPr>
            <a:r>
              <a:rPr sz="4050" b="1">
                <a:solidFill>
                  <a:srgbClr val="242424"/>
                </a:solidFill>
                <a:latin typeface="Aptos"/>
                <a:ea typeface="Aptos"/>
                <a:cs typeface="Aptos"/>
              </a:rPr>
              <a:t>on Airbnb</a:t>
            </a:r>
          </a:p>
        </p:txBody>
      </p:sp>
      <p:sp>
        <p:nvSpPr>
          <p:cNvPr id="4" name="">
            <a:extLst xmlns:a="http://schemas.openxmlformats.org/drawingml/2006/main">
              <a:ext uri="{FF2B5EF4-FFF2-40B4-BE49-F238E27FC236}">
                <a16:creationId xmlns:a16="http://schemas.microsoft.com/office/drawing/2014/main" id="{0D15BCA3-B227-45C6-95E4-FAF935723345}"/>
              </a:ext>
            </a:extLst>
          </p:cNvPr>
          <p:cNvSpPr>
            <a:spLocks xmlns:a="http://schemas.openxmlformats.org/drawingml/2006/main" noGrp="1"/>
          </p:cNvSpPr>
          <p:nvPr/>
        </p:nvSpPr>
        <p:spPr>
          <a:xfrm xmlns:a="http://schemas.openxmlformats.org/drawingml/2006/main">
            <a:off x="638175" y="3905250"/>
            <a:ext cx="4810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6E6963"/>
                </a:solidFill>
                <a:latin typeface="Aptos"/>
                <a:ea typeface="Aptos"/>
                <a:cs typeface="Aptos"/>
              </a:defRPr>
            </a:pPr>
            <a:r>
              <a:rPr sz="2175" b="0">
                <a:solidFill>
                  <a:srgbClr val="6E6963"/>
                </a:solidFill>
                <a:latin typeface="Aptos"/>
                <a:ea typeface="Aptos"/>
                <a:cs typeface="Aptos"/>
              </a:rPr>
              <a:t>For remote workers relocating</a:t>
            </a:r>
          </a:p>
          <a:p xmlns:a="http://schemas.openxmlformats.org/drawingml/2006/main">
            <a:pPr>
              <a:defRPr sz="2175" b="0">
                <a:solidFill>
                  <a:srgbClr val="6E6963"/>
                </a:solidFill>
                <a:latin typeface="Aptos"/>
                <a:ea typeface="Aptos"/>
                <a:cs typeface="Aptos"/>
              </a:defRPr>
            </a:pPr>
            <a:r>
              <a:rPr sz="2175" b="0">
                <a:solidFill>
                  <a:srgbClr val="6E6963"/>
                </a:solidFill>
                <a:latin typeface="Aptos"/>
                <a:ea typeface="Aptos"/>
                <a:cs typeface="Aptos"/>
              </a:rPr>
              <a:t>for 1–6 months</a:t>
            </a:r>
          </a:p>
        </p:txBody>
      </p:sp>
      <p:sp>
        <p:nvSpPr>
          <p:cNvPr id="5" name="">
            <a:extLst xmlns:a="http://schemas.openxmlformats.org/drawingml/2006/main">
              <a:ext uri="{FF2B5EF4-FFF2-40B4-BE49-F238E27FC236}">
                <a16:creationId xmlns:a16="http://schemas.microsoft.com/office/drawing/2014/main" id="{DF982BEB-296C-45A5-B33C-8CC27E05C55E}"/>
              </a:ext>
            </a:extLst>
          </p:cNvPr>
          <p:cNvSpPr>
            <a:spLocks xmlns:a="http://schemas.openxmlformats.org/drawingml/2006/main" noGrp="1"/>
          </p:cNvSpPr>
          <p:nvPr/>
        </p:nvSpPr>
        <p:spPr>
          <a:xfrm xmlns:a="http://schemas.openxmlformats.org/drawingml/2006/main">
            <a:off x="638175" y="5381625"/>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D94750"/>
                </a:solidFill>
                <a:latin typeface="Aptos"/>
                <a:ea typeface="Aptos"/>
                <a:cs typeface="Aptos"/>
              </a:defRPr>
            </a:pPr>
            <a:r>
              <a:rPr sz="1650" b="1">
                <a:solidFill>
                  <a:srgbClr val="D94750"/>
                </a:solidFill>
                <a:latin typeface="Aptos"/>
                <a:ea typeface="Aptos"/>
                <a:cs typeface="Aptos"/>
              </a:rPr>
              <a:t>Proposed concept: Long-stay brief</a:t>
            </a:r>
          </a:p>
        </p:txBody>
      </p:sp>
      <p:sp>
        <p:nvSpPr>
          <p:cNvPr id="6" name="">
            <a:extLst xmlns:a="http://schemas.openxmlformats.org/drawingml/2006/main">
              <a:ext uri="{FF2B5EF4-FFF2-40B4-BE49-F238E27FC236}">
                <a16:creationId xmlns:a16="http://schemas.microsoft.com/office/drawing/2014/main" id="{6824382E-085D-4F39-9DF2-29970431131C}"/>
              </a:ext>
            </a:extLst>
          </p:cNvPr>
          <p:cNvSpPr>
            <a:spLocks xmlns:a="http://schemas.openxmlformats.org/drawingml/2006/main" noGrp="1"/>
          </p:cNvSpPr>
          <p:nvPr/>
        </p:nvSpPr>
        <p:spPr>
          <a:xfrm xmlns:a="http://schemas.openxmlformats.org/drawingml/2006/main">
            <a:off x="619125" y="63341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6E6963"/>
                </a:solidFill>
                <a:latin typeface="Aptos"/>
                <a:ea typeface="Aptos"/>
                <a:cs typeface="Aptos"/>
              </a:defRPr>
            </a:pPr>
            <a:r>
              <a:rPr sz="900" b="0">
                <a:solidFill>
                  <a:srgbClr val="6E6963"/>
                </a:solidFill>
                <a:latin typeface="Aptos"/>
                <a:ea typeface="Aptos"/>
                <a:cs typeface="Aptos"/>
              </a:rPr>
              <a:t>Independent product case study. Not affiliated with Airbnb.</a:t>
            </a:r>
          </a:p>
        </p:txBody>
      </p:sp>
    </p:spTree>
    <p:extLst>
      <p:ext uri="{BB962C8B-B14F-4D97-AF65-F5344CB8AC3E}">
        <p14:creationId xmlns:p14="http://schemas.microsoft.com/office/powerpoint/2010/main" val="501476072"/>
      </p:ext>
    </p:extLst>
  </p:cSld>
</p:sld>
</file>

<file path=ppt/slides/slide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72FBF62-5E97-4E9D-A655-C797FB185164}"/>
              </a:ext>
            </a:extLst>
          </p:cNvPr>
          <p:cNvSpPr>
            <a:spLocks xmlns:a="http://schemas.openxmlformats.org/drawingml/2006/main" noGrp="1"/>
          </p:cNvSpPr>
          <p:nvPr/>
        </p:nvSpPr>
        <p:spPr>
          <a:xfrm xmlns:a="http://schemas.openxmlformats.org/drawingml/2006/main">
            <a:off x="11239500" y="4286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D94750"/>
                </a:solidFill>
                <a:latin typeface="Aptos"/>
                <a:ea typeface="Aptos"/>
                <a:cs typeface="Aptos"/>
              </a:defRPr>
            </a:pPr>
            <a:r>
              <a:rPr sz="1275" b="1">
                <a:solidFill>
                  <a:srgbClr val="D94750"/>
                </a:solidFill>
                <a:latin typeface="Aptos"/>
                <a:ea typeface="Aptos"/>
                <a:cs typeface="Aptos"/>
              </a:rPr>
              <a:t>02</a:t>
            </a:r>
          </a:p>
        </p:txBody>
      </p:sp>
      <p:sp>
        <p:nvSpPr>
          <p:cNvPr id="2" name="">
            <a:extLst xmlns:a="http://schemas.openxmlformats.org/drawingml/2006/main">
              <a:ext uri="{FF2B5EF4-FFF2-40B4-BE49-F238E27FC236}">
                <a16:creationId xmlns:a16="http://schemas.microsoft.com/office/drawing/2014/main" id="{AB47D958-5C2C-457D-A863-88EC70F7573D}"/>
              </a:ext>
            </a:extLst>
          </p:cNvPr>
          <p:cNvSpPr>
            <a:spLocks xmlns:a="http://schemas.openxmlformats.org/drawingml/2006/main" noGrp="1"/>
          </p:cNvSpPr>
          <p:nvPr/>
        </p:nvSpPr>
        <p:spPr>
          <a:xfrm xmlns:a="http://schemas.openxmlformats.org/drawingml/2006/main">
            <a:off x="609600" y="5238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Longer stays make everyday fit matter more</a:t>
            </a:r>
          </a:p>
        </p:txBody>
      </p:sp>
      <p:sp>
        <p:nvSpPr>
          <p:cNvPr id="3" name="">
            <a:extLst xmlns:a="http://schemas.openxmlformats.org/drawingml/2006/main">
              <a:ext uri="{FF2B5EF4-FFF2-40B4-BE49-F238E27FC236}">
                <a16:creationId xmlns:a16="http://schemas.microsoft.com/office/drawing/2014/main" id="{34974960-F85D-4200-B96C-15BCEAA11249}"/>
              </a:ext>
            </a:extLst>
          </p:cNvPr>
          <p:cNvSpPr>
            <a:spLocks xmlns:a="http://schemas.openxmlformats.org/drawingml/2006/main" noGrp="1"/>
          </p:cNvSpPr>
          <p:nvPr/>
        </p:nvSpPr>
        <p:spPr>
          <a:xfrm xmlns:a="http://schemas.openxmlformats.org/drawingml/2006/main">
            <a:off x="628650" y="16097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6E6963"/>
                </a:solidFill>
                <a:latin typeface="Aptos"/>
                <a:ea typeface="Aptos"/>
                <a:cs typeface="Aptos"/>
              </a:defRPr>
            </a:pPr>
            <a:r>
              <a:rPr sz="1575" b="0">
                <a:solidFill>
                  <a:srgbClr val="6E6963"/>
                </a:solidFill>
                <a:latin typeface="Aptos"/>
                <a:ea typeface="Aptos"/>
                <a:cs typeface="Aptos"/>
              </a:rPr>
              <a:t>Public research offers a demand signal, not a count of Airbnb relocation customers</a:t>
            </a:r>
          </a:p>
        </p:txBody>
      </p:sp>
      <p:sp>
        <p:nvSpPr>
          <p:cNvPr id="4" name="">
            <a:extLst xmlns:a="http://schemas.openxmlformats.org/drawingml/2006/main">
              <a:ext uri="{FF2B5EF4-FFF2-40B4-BE49-F238E27FC236}">
                <a16:creationId xmlns:a16="http://schemas.microsoft.com/office/drawing/2014/main" id="{1C9CE5CF-9C28-40AC-A233-CB745FCE2FB8}"/>
              </a:ext>
            </a:extLst>
          </p:cNvPr>
          <p:cNvSpPr>
            <a:spLocks xmlns:a="http://schemas.openxmlformats.org/drawingml/2006/main" noGrp="1"/>
          </p:cNvSpPr>
          <p:nvPr/>
        </p:nvSpPr>
        <p:spPr>
          <a:xfrm xmlns:a="http://schemas.openxmlformats.org/drawingml/2006/main">
            <a:off x="628650" y="6467475"/>
            <a:ext cx="971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6E6963"/>
                </a:solidFill>
                <a:latin typeface="Aptos"/>
                <a:ea typeface="Aptos"/>
                <a:cs typeface="Aptos"/>
              </a:defRPr>
            </a:pPr>
            <a:r>
              <a:rPr sz="900" b="0">
                <a:solidFill>
                  <a:srgbClr val="6E6963"/>
                </a:solidFill>
                <a:latin typeface="Aptos"/>
                <a:ea typeface="Aptos"/>
                <a:cs typeface="Aptos"/>
              </a:rPr>
              <a:t>Independent product case study. Not affiliated with Airbnb.</a:t>
            </a:r>
          </a:p>
        </p:txBody>
      </p:sp>
      <p:sp>
        <p:nvSpPr>
          <p:cNvPr id="5" name="">
            <a:extLst xmlns:a="http://schemas.openxmlformats.org/drawingml/2006/main">
              <a:ext uri="{FF2B5EF4-FFF2-40B4-BE49-F238E27FC236}">
                <a16:creationId xmlns:a16="http://schemas.microsoft.com/office/drawing/2014/main" id="{596E7F54-B248-49B7-BFCA-DDADD0887565}"/>
              </a:ext>
            </a:extLst>
          </p:cNvPr>
          <p:cNvSpPr>
            <a:spLocks xmlns:a="http://schemas.openxmlformats.org/drawingml/2006/main" noGrp="1"/>
          </p:cNvSpPr>
          <p:nvPr/>
        </p:nvSpPr>
        <p:spPr>
          <a:xfrm xmlns:a="http://schemas.openxmlformats.org/drawingml/2006/main">
            <a:off x="628650" y="23812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242424"/>
                </a:solidFill>
                <a:latin typeface="Aptos"/>
                <a:ea typeface="Aptos"/>
                <a:cs typeface="Aptos"/>
              </a:defRPr>
            </a:pPr>
            <a:r>
              <a:rPr sz="2025" b="1">
                <a:solidFill>
                  <a:srgbClr val="242424"/>
                </a:solidFill>
                <a:latin typeface="Aptos"/>
                <a:ea typeface="Aptos"/>
                <a:cs typeface="Aptos"/>
              </a:rPr>
              <a:t>Weeks per stop</a:t>
            </a:r>
          </a:p>
        </p:txBody>
      </p:sp>
      <p:graphicFrame>
        <p:nvGraphicFramePr>
          <p:cNvPr id="17" name="Chart"/>
          <p:cNvGraphicFramePr/>
          <p:nvPr/>
        </p:nvGraphicFramePr>
        <p:xfrm>
          <a:off xmlns:a="http://schemas.openxmlformats.org/drawingml/2006/main" x="619125" y="2905125"/>
          <a:ext xmlns:a="http://schemas.openxmlformats.org/drawingml/2006/main" cx="6191250" cy="2905125"/>
        </p:xfrm>
        <a:graphic xmlns:a="http://schemas.openxmlformats.org/drawingml/2006/main">
          <a:graphicData uri="http://schemas.openxmlformats.org/drawingml/2006/chart">
            <c:chart xmlns:r="http://schemas.openxmlformats.org/officeDocument/2006/relationships" xmlns:c="http://schemas.openxmlformats.org/drawingml/2006/chart" r:id="Rbadcd19927204824"/>
          </a:graphicData>
        </a:graphic>
      </p:graphicFrame>
      <p:sp>
        <p:nvSpPr>
          <p:cNvPr id="7" name="">
            <a:extLst xmlns:a="http://schemas.openxmlformats.org/drawingml/2006/main">
              <a:ext uri="{FF2B5EF4-FFF2-40B4-BE49-F238E27FC236}">
                <a16:creationId xmlns:a16="http://schemas.microsoft.com/office/drawing/2014/main" id="{2ADC868E-4EEC-42A9-A2B6-3F680ECF8E44}"/>
              </a:ext>
            </a:extLst>
          </p:cNvPr>
          <p:cNvSpPr>
            <a:spLocks xmlns:a="http://schemas.openxmlformats.org/drawingml/2006/main" noGrp="1"/>
          </p:cNvSpPr>
          <p:nvPr/>
        </p:nvSpPr>
        <p:spPr>
          <a:xfrm xmlns:a="http://schemas.openxmlformats.org/drawingml/2006/main">
            <a:off x="7715250" y="2362200"/>
            <a:ext cx="314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250" b="1">
                <a:solidFill>
                  <a:srgbClr val="D94750"/>
                </a:solidFill>
                <a:latin typeface="Aptos"/>
                <a:ea typeface="Aptos"/>
                <a:cs typeface="Aptos"/>
              </a:defRPr>
            </a:pPr>
            <a:r>
              <a:rPr sz="5250" b="1">
                <a:solidFill>
                  <a:srgbClr val="D94750"/>
                </a:solidFill>
                <a:latin typeface="Aptos"/>
                <a:ea typeface="Aptos"/>
                <a:cs typeface="Aptos"/>
              </a:rPr>
              <a:t>26%</a:t>
            </a:r>
          </a:p>
        </p:txBody>
      </p:sp>
      <p:sp>
        <p:nvSpPr>
          <p:cNvPr id="8" name="">
            <a:extLst xmlns:a="http://schemas.openxmlformats.org/drawingml/2006/main">
              <a:ext uri="{FF2B5EF4-FFF2-40B4-BE49-F238E27FC236}">
                <a16:creationId xmlns:a16="http://schemas.microsoft.com/office/drawing/2014/main" id="{D3ED3D78-E4B4-4119-8A7D-35165F98C92E}"/>
              </a:ext>
            </a:extLst>
          </p:cNvPr>
          <p:cNvSpPr>
            <a:spLocks xmlns:a="http://schemas.openxmlformats.org/drawingml/2006/main" noGrp="1"/>
          </p:cNvSpPr>
          <p:nvPr/>
        </p:nvSpPr>
        <p:spPr>
          <a:xfrm xmlns:a="http://schemas.openxmlformats.org/drawingml/2006/main">
            <a:off x="7715250" y="32099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42424"/>
                </a:solidFill>
                <a:latin typeface="Aptos"/>
                <a:ea typeface="Aptos"/>
                <a:cs typeface="Aptos"/>
              </a:defRPr>
            </a:pPr>
            <a:r>
              <a:rPr sz="1875" b="0">
                <a:solidFill>
                  <a:srgbClr val="242424"/>
                </a:solidFill>
                <a:latin typeface="Aptos"/>
                <a:ea typeface="Aptos"/>
                <a:cs typeface="Aptos"/>
              </a:rPr>
              <a:t>reported financial stress</a:t>
            </a:r>
          </a:p>
        </p:txBody>
      </p:sp>
      <p:sp>
        <p:nvSpPr>
          <p:cNvPr id="9" name="">
            <a:extLst xmlns:a="http://schemas.openxmlformats.org/drawingml/2006/main">
              <a:ext uri="{FF2B5EF4-FFF2-40B4-BE49-F238E27FC236}">
                <a16:creationId xmlns:a16="http://schemas.microsoft.com/office/drawing/2014/main" id="{C1752C13-1781-4B46-BB5C-44A5B998581E}"/>
              </a:ext>
            </a:extLst>
          </p:cNvPr>
          <p:cNvSpPr>
            <a:spLocks xmlns:a="http://schemas.openxmlformats.org/drawingml/2006/main" noGrp="1"/>
          </p:cNvSpPr>
          <p:nvPr/>
        </p:nvSpPr>
        <p:spPr>
          <a:xfrm xmlns:a="http://schemas.openxmlformats.org/drawingml/2006/main">
            <a:off x="7715250" y="3943350"/>
            <a:ext cx="314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250" b="1">
                <a:solidFill>
                  <a:srgbClr val="D94750"/>
                </a:solidFill>
                <a:latin typeface="Aptos"/>
                <a:ea typeface="Aptos"/>
                <a:cs typeface="Aptos"/>
              </a:defRPr>
            </a:pPr>
            <a:r>
              <a:rPr sz="5250" b="1">
                <a:solidFill>
                  <a:srgbClr val="D94750"/>
                </a:solidFill>
                <a:latin typeface="Aptos"/>
                <a:ea typeface="Aptos"/>
                <a:cs typeface="Aptos"/>
              </a:rPr>
              <a:t>25%</a:t>
            </a:r>
          </a:p>
        </p:txBody>
      </p:sp>
      <p:sp>
        <p:nvSpPr>
          <p:cNvPr id="10" name="">
            <a:extLst xmlns:a="http://schemas.openxmlformats.org/drawingml/2006/main">
              <a:ext uri="{FF2B5EF4-FFF2-40B4-BE49-F238E27FC236}">
                <a16:creationId xmlns:a16="http://schemas.microsoft.com/office/drawing/2014/main" id="{3A8611F0-CE89-4FD4-BD2E-784194E53853}"/>
              </a:ext>
            </a:extLst>
          </p:cNvPr>
          <p:cNvSpPr>
            <a:spLocks xmlns:a="http://schemas.openxmlformats.org/drawingml/2006/main" noGrp="1"/>
          </p:cNvSpPr>
          <p:nvPr/>
        </p:nvSpPr>
        <p:spPr>
          <a:xfrm xmlns:a="http://schemas.openxmlformats.org/drawingml/2006/main">
            <a:off x="7715250" y="4791075"/>
            <a:ext cx="357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42424"/>
                </a:solidFill>
                <a:latin typeface="Aptos"/>
                <a:ea typeface="Aptos"/>
                <a:cs typeface="Aptos"/>
              </a:defRPr>
            </a:pPr>
            <a:r>
              <a:rPr sz="1875" b="0">
                <a:solidFill>
                  <a:srgbClr val="242424"/>
                </a:solidFill>
                <a:latin typeface="Aptos"/>
                <a:ea typeface="Aptos"/>
                <a:cs typeface="Aptos"/>
              </a:rPr>
              <a:t>reported personal safety concerns</a:t>
            </a:r>
          </a:p>
        </p:txBody>
      </p:sp>
      <p:sp>
        <p:nvSpPr>
          <p:cNvPr id="11" name="">
            <a:extLst xmlns:a="http://schemas.openxmlformats.org/drawingml/2006/main">
              <a:ext uri="{FF2B5EF4-FFF2-40B4-BE49-F238E27FC236}">
                <a16:creationId xmlns:a16="http://schemas.microsoft.com/office/drawing/2014/main" id="{89110B41-FD53-42B4-9CE3-B349C393DD19}"/>
              </a:ext>
            </a:extLst>
          </p:cNvPr>
          <p:cNvSpPr>
            <a:spLocks xmlns:a="http://schemas.openxmlformats.org/drawingml/2006/main" noGrp="1"/>
          </p:cNvSpPr>
          <p:nvPr/>
        </p:nvSpPr>
        <p:spPr>
          <a:xfrm xmlns:a="http://schemas.openxmlformats.org/drawingml/2006/main">
            <a:off x="628650" y="59436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6E6963"/>
                </a:solidFill>
                <a:latin typeface="Aptos"/>
                <a:ea typeface="Aptos"/>
                <a:cs typeface="Aptos"/>
              </a:defRPr>
            </a:pPr>
            <a:r>
              <a:rPr sz="1275" b="0">
                <a:solidFill>
                  <a:srgbClr val="6E6963"/>
                </a:solidFill>
                <a:latin typeface="Aptos"/>
                <a:ea typeface="Aptos"/>
                <a:cs typeface="Aptos"/>
              </a:rPr>
              <a:t>MBO Partners, 2025. U.S. digital nomads. Self-reported survey findings.</a:t>
            </a:r>
          </a:p>
        </p:txBody>
      </p:sp>
    </p:spTree>
    <p:extLst>
      <p:ext uri="{BB962C8B-B14F-4D97-AF65-F5344CB8AC3E}">
        <p14:creationId xmlns:p14="http://schemas.microsoft.com/office/powerpoint/2010/main" val="504210314"/>
      </p:ext>
    </p:extLst>
  </p:cSld>
</p:sld>
</file>

<file path=ppt/slides/slide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4432CB-608C-4DB8-8BF2-9DD32FD9FAC7}"/>
              </a:ext>
            </a:extLst>
          </p:cNvPr>
          <p:cNvSpPr>
            <a:spLocks xmlns:a="http://schemas.openxmlformats.org/drawingml/2006/main" noGrp="1"/>
          </p:cNvSpPr>
          <p:nvPr/>
        </p:nvSpPr>
        <p:spPr>
          <a:xfrm xmlns:a="http://schemas.openxmlformats.org/drawingml/2006/main">
            <a:off x="11239500" y="4286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D94750"/>
                </a:solidFill>
                <a:latin typeface="Aptos"/>
                <a:ea typeface="Aptos"/>
                <a:cs typeface="Aptos"/>
              </a:defRPr>
            </a:pPr>
            <a:r>
              <a:rPr sz="1275" b="1">
                <a:solidFill>
                  <a:srgbClr val="D94750"/>
                </a:solidFill>
                <a:latin typeface="Aptos"/>
                <a:ea typeface="Aptos"/>
                <a:cs typeface="Aptos"/>
              </a:rPr>
              <a:t>03</a:t>
            </a:r>
          </a:p>
        </p:txBody>
      </p:sp>
      <p:sp>
        <p:nvSpPr>
          <p:cNvPr id="2" name="">
            <a:extLst xmlns:a="http://schemas.openxmlformats.org/drawingml/2006/main">
              <a:ext uri="{FF2B5EF4-FFF2-40B4-BE49-F238E27FC236}">
                <a16:creationId xmlns:a16="http://schemas.microsoft.com/office/drawing/2014/main" id="{73AAC45C-DEC0-43BB-80EF-A434772196CA}"/>
              </a:ext>
            </a:extLst>
          </p:cNvPr>
          <p:cNvSpPr>
            <a:spLocks xmlns:a="http://schemas.openxmlformats.org/drawingml/2006/main" noGrp="1"/>
          </p:cNvSpPr>
          <p:nvPr/>
        </p:nvSpPr>
        <p:spPr>
          <a:xfrm xmlns:a="http://schemas.openxmlformats.org/drawingml/2006/main">
            <a:off x="609600" y="5238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The first customer has a fixed workday</a:t>
            </a:r>
          </a:p>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and an unfamiliar city</a:t>
            </a:r>
          </a:p>
        </p:txBody>
      </p:sp>
      <p:sp>
        <p:nvSpPr>
          <p:cNvPr id="3" name="">
            <a:extLst xmlns:a="http://schemas.openxmlformats.org/drawingml/2006/main">
              <a:ext uri="{FF2B5EF4-FFF2-40B4-BE49-F238E27FC236}">
                <a16:creationId xmlns:a16="http://schemas.microsoft.com/office/drawing/2014/main" id="{9F319CBA-971F-49F2-918E-0F450FC1DC42}"/>
              </a:ext>
            </a:extLst>
          </p:cNvPr>
          <p:cNvSpPr>
            <a:spLocks xmlns:a="http://schemas.openxmlformats.org/drawingml/2006/main" noGrp="1"/>
          </p:cNvSpPr>
          <p:nvPr/>
        </p:nvSpPr>
        <p:spPr>
          <a:xfrm xmlns:a="http://schemas.openxmlformats.org/drawingml/2006/main">
            <a:off x="628650" y="16097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6E6963"/>
                </a:solidFill>
                <a:latin typeface="Aptos"/>
                <a:ea typeface="Aptos"/>
                <a:cs typeface="Aptos"/>
              </a:defRPr>
            </a:pPr>
            <a:r>
              <a:rPr sz="1575" b="0">
                <a:solidFill>
                  <a:srgbClr val="6E6963"/>
                </a:solidFill>
                <a:latin typeface="Aptos"/>
                <a:ea typeface="Aptos"/>
                <a:cs typeface="Aptos"/>
              </a:rPr>
              <a:t>Proposed segment: solo workers or couples, domestic relocation, entire homes, 28–90 nights</a:t>
            </a:r>
          </a:p>
        </p:txBody>
      </p:sp>
      <p:sp>
        <p:nvSpPr>
          <p:cNvPr id="4" name="">
            <a:extLst xmlns:a="http://schemas.openxmlformats.org/drawingml/2006/main">
              <a:ext uri="{FF2B5EF4-FFF2-40B4-BE49-F238E27FC236}">
                <a16:creationId xmlns:a16="http://schemas.microsoft.com/office/drawing/2014/main" id="{A4074C82-9EAA-4D2E-91E1-7BEBBD873CEF}"/>
              </a:ext>
            </a:extLst>
          </p:cNvPr>
          <p:cNvSpPr>
            <a:spLocks xmlns:a="http://schemas.openxmlformats.org/drawingml/2006/main" noGrp="1"/>
          </p:cNvSpPr>
          <p:nvPr/>
        </p:nvSpPr>
        <p:spPr>
          <a:xfrm xmlns:a="http://schemas.openxmlformats.org/drawingml/2006/main">
            <a:off x="628650" y="6467475"/>
            <a:ext cx="971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6E6963"/>
                </a:solidFill>
                <a:latin typeface="Aptos"/>
                <a:ea typeface="Aptos"/>
                <a:cs typeface="Aptos"/>
              </a:defRPr>
            </a:pPr>
            <a:r>
              <a:rPr sz="900" b="0">
                <a:solidFill>
                  <a:srgbClr val="6E6963"/>
                </a:solidFill>
                <a:latin typeface="Aptos"/>
                <a:ea typeface="Aptos"/>
                <a:cs typeface="Aptos"/>
              </a:rPr>
              <a:t>Independent product case study. Not affiliated with Airbnb.</a:t>
            </a:r>
          </a:p>
        </p:txBody>
      </p:sp>
      <p:graphicFrame>
        <p:nvGraphicFramePr>
          <p:cNvPr id="12" name=""/>
          <p:cNvGraphicFramePr/>
          <p:nvPr/>
        </p:nvGraphicFramePr>
        <p:xfrm>
          <a:off xmlns:a="http://schemas.openxmlformats.org/drawingml/2006/main" x="619125" y="2343150"/>
          <a:ext xmlns:a="http://schemas.openxmlformats.org/drawingml/2006/main" cx="10953750" cy="2895600"/>
        </p:xfrm>
        <a:graphic xmlns:a="http://schemas.openxmlformats.org/drawingml/2006/main">
          <a:graphicData uri="http://schemas.openxmlformats.org/drawingml/2006/table">
            <a:tbl>
              <a:tblPr/>
              <a:tblGrid>
                <a:gridCol w="1714500"/>
                <a:gridCol w="4810125"/>
                <a:gridCol w="4429125"/>
              </a:tblGrid>
              <a:tr h="579120">
                <a:tc>
                  <a:txBody>
                    <a:bodyPr/>
                    <a:lstStyle/>
                    <a:p>
                      <a:r>
                        <a:rPr sz="1425" b="1">
                          <a:solidFill>
                            <a:srgbClr val="242424"/>
                          </a:solidFill>
                          <a:latin typeface="Aptos"/>
                          <a:ea typeface="Aptos"/>
                          <a:cs typeface="Aptos"/>
                        </a:rPr>
                        <a:t>Journey</a:t>
                      </a:r>
                    </a:p>
                  </a:txBody>
                  <a:tcPr marL="91440" marR="91440" marT="45720" marB="45720">
                    <a:solidFill>
                      <a:srgbClr val="F3E4DE"/>
                    </a:solidFill>
                  </a:tcPr>
                </a:tc>
                <a:tc>
                  <a:txBody>
                    <a:bodyPr/>
                    <a:lstStyle/>
                    <a:p>
                      <a:r>
                        <a:rPr sz="1425" b="1">
                          <a:solidFill>
                            <a:srgbClr val="242424"/>
                          </a:solidFill>
                          <a:latin typeface="Aptos"/>
                          <a:ea typeface="Aptos"/>
                          <a:cs typeface="Aptos"/>
                        </a:rPr>
                        <a:t>Guest uncertainty · hypothesis</a:t>
                      </a:r>
                    </a:p>
                  </a:txBody>
                  <a:tcPr marL="91440" marR="91440" marT="45720" marB="45720">
                    <a:solidFill>
                      <a:srgbClr val="F3E4DE"/>
                    </a:solidFill>
                  </a:tcPr>
                </a:tc>
                <a:tc>
                  <a:txBody>
                    <a:bodyPr/>
                    <a:lstStyle/>
                    <a:p>
                      <a:r>
                        <a:rPr sz="1425" b="1">
                          <a:solidFill>
                            <a:srgbClr val="242424"/>
                          </a:solidFill>
                          <a:latin typeface="Aptos"/>
                          <a:ea typeface="Aptos"/>
                          <a:cs typeface="Aptos"/>
                        </a:rPr>
                        <a:t>Host tension · hypothesis</a:t>
                      </a:r>
                    </a:p>
                  </a:txBody>
                  <a:tcPr marL="91440" marR="91440" marT="45720" marB="45720">
                    <a:solidFill>
                      <a:srgbClr val="F3E4DE"/>
                    </a:solidFill>
                  </a:tcPr>
                </a:tc>
              </a:tr>
              <a:tr h="579120">
                <a:tc>
                  <a:txBody>
                    <a:bodyPr/>
                    <a:lstStyle/>
                    <a:p>
                      <a:r>
                        <a:rPr sz="1650" b="0">
                          <a:solidFill>
                            <a:srgbClr val="242424"/>
                          </a:solidFill>
                          <a:latin typeface="Aptos"/>
                          <a:ea typeface="Aptos"/>
                          <a:cs typeface="Aptos"/>
                        </a:rPr>
                        <a:t>Shortlist</a:t>
                      </a:r>
                    </a:p>
                  </a:txBody>
                  <a:tcPr marL="91440" marR="91440" marT="45720" marB="45720">
                    <a:solidFill>
                      <a:srgbClr val="F8F5F0"/>
                    </a:solidFill>
                  </a:tcPr>
                </a:tc>
                <a:tc>
                  <a:txBody>
                    <a:bodyPr/>
                    <a:lstStyle/>
                    <a:p>
                      <a:r>
                        <a:rPr sz="1650" b="0">
                          <a:solidFill>
                            <a:srgbClr val="242424"/>
                          </a:solidFill>
                          <a:latin typeface="Aptos"/>
                          <a:ea typeface="Aptos"/>
                          <a:cs typeface="Aptos"/>
                        </a:rPr>
                        <a:t>Can I work here every day?</a:t>
                      </a:r>
                    </a:p>
                  </a:txBody>
                  <a:tcPr marL="91440" marR="91440" marT="45720" marB="45720">
                    <a:solidFill>
                      <a:srgbClr val="F8F5F0"/>
                    </a:solidFill>
                  </a:tcPr>
                </a:tc>
                <a:tc>
                  <a:txBody>
                    <a:bodyPr/>
                    <a:lstStyle/>
                    <a:p>
                      <a:r>
                        <a:rPr sz="1650" b="0">
                          <a:solidFill>
                            <a:srgbClr val="242424"/>
                          </a:solidFill>
                          <a:latin typeface="Aptos"/>
                          <a:ea typeface="Aptos"/>
                          <a:cs typeface="Aptos"/>
                        </a:rPr>
                        <a:t>Repeated amenity questions</a:t>
                      </a:r>
                    </a:p>
                  </a:txBody>
                  <a:tcPr marL="91440" marR="91440" marT="45720" marB="45720">
                    <a:solidFill>
                      <a:srgbClr val="F8F5F0"/>
                    </a:solidFill>
                  </a:tcPr>
                </a:tc>
              </a:tr>
              <a:tr h="579120">
                <a:tc>
                  <a:txBody>
                    <a:bodyPr/>
                    <a:lstStyle/>
                    <a:p>
                      <a:r>
                        <a:rPr sz="1650" b="0">
                          <a:solidFill>
                            <a:srgbClr val="242424"/>
                          </a:solidFill>
                          <a:latin typeface="Aptos"/>
                          <a:ea typeface="Aptos"/>
                          <a:cs typeface="Aptos"/>
                        </a:rPr>
                        <a:t>Compare</a:t>
                      </a:r>
                    </a:p>
                  </a:txBody>
                  <a:tcPr marL="91440" marR="91440" marT="45720" marB="45720">
                    <a:solidFill>
                      <a:srgbClr val="F0EBE5"/>
                    </a:solidFill>
                  </a:tcPr>
                </a:tc>
                <a:tc>
                  <a:txBody>
                    <a:bodyPr/>
                    <a:lstStyle/>
                    <a:p>
                      <a:r>
                        <a:rPr sz="1650" b="0">
                          <a:solidFill>
                            <a:srgbClr val="242424"/>
                          </a:solidFill>
                          <a:latin typeface="Aptos"/>
                          <a:ea typeface="Aptos"/>
                          <a:cs typeface="Aptos"/>
                        </a:rPr>
                        <a:t>What will I pay, and when?</a:t>
                      </a:r>
                    </a:p>
                  </a:txBody>
                  <a:tcPr marL="91440" marR="91440" marT="45720" marB="45720">
                    <a:solidFill>
                      <a:srgbClr val="F0EBE5"/>
                    </a:solidFill>
                  </a:tcPr>
                </a:tc>
                <a:tc>
                  <a:txBody>
                    <a:bodyPr/>
                    <a:lstStyle/>
                    <a:p>
                      <a:r>
                        <a:rPr sz="1650" b="0">
                          <a:solidFill>
                            <a:srgbClr val="242424"/>
                          </a:solidFill>
                          <a:latin typeface="Aptos"/>
                          <a:ea typeface="Aptos"/>
                          <a:cs typeface="Aptos"/>
                        </a:rPr>
                        <a:t>Discounts versus calendar value</a:t>
                      </a:r>
                    </a:p>
                  </a:txBody>
                  <a:tcPr marL="91440" marR="91440" marT="45720" marB="45720">
                    <a:solidFill>
                      <a:srgbClr val="F0EBE5"/>
                    </a:solidFill>
                  </a:tcPr>
                </a:tc>
              </a:tr>
              <a:tr h="579120">
                <a:tc>
                  <a:txBody>
                    <a:bodyPr/>
                    <a:lstStyle/>
                    <a:p>
                      <a:r>
                        <a:rPr sz="1650" b="0">
                          <a:solidFill>
                            <a:srgbClr val="242424"/>
                          </a:solidFill>
                          <a:latin typeface="Aptos"/>
                          <a:ea typeface="Aptos"/>
                          <a:cs typeface="Aptos"/>
                        </a:rPr>
                        <a:t>Commit</a:t>
                      </a:r>
                    </a:p>
                  </a:txBody>
                  <a:tcPr marL="91440" marR="91440" marT="45720" marB="45720">
                    <a:solidFill>
                      <a:srgbClr val="F8F5F0"/>
                    </a:solidFill>
                  </a:tcPr>
                </a:tc>
                <a:tc>
                  <a:txBody>
                    <a:bodyPr/>
                    <a:lstStyle/>
                    <a:p>
                      <a:r>
                        <a:rPr sz="1650" b="0">
                          <a:solidFill>
                            <a:srgbClr val="242424"/>
                          </a:solidFill>
                          <a:latin typeface="Aptos"/>
                          <a:ea typeface="Aptos"/>
                          <a:cs typeface="Aptos"/>
                        </a:rPr>
                        <a:t>What if I need to leave early?</a:t>
                      </a:r>
                    </a:p>
                  </a:txBody>
                  <a:tcPr marL="91440" marR="91440" marT="45720" marB="45720">
                    <a:solidFill>
                      <a:srgbClr val="F8F5F0"/>
                    </a:solidFill>
                  </a:tcPr>
                </a:tc>
                <a:tc>
                  <a:txBody>
                    <a:bodyPr/>
                    <a:lstStyle/>
                    <a:p>
                      <a:r>
                        <a:rPr sz="1650" b="0">
                          <a:solidFill>
                            <a:srgbClr val="242424"/>
                          </a:solidFill>
                          <a:latin typeface="Aptos"/>
                          <a:ea typeface="Aptos"/>
                          <a:cs typeface="Aptos"/>
                        </a:rPr>
                        <a:t>Late cancellation blocks income</a:t>
                      </a:r>
                    </a:p>
                  </a:txBody>
                  <a:tcPr marL="91440" marR="91440" marT="45720" marB="45720">
                    <a:solidFill>
                      <a:srgbClr val="F8F5F0"/>
                    </a:solidFill>
                  </a:tcPr>
                </a:tc>
              </a:tr>
              <a:tr h="579120">
                <a:tc>
                  <a:txBody>
                    <a:bodyPr/>
                    <a:lstStyle/>
                    <a:p>
                      <a:r>
                        <a:rPr sz="1650" b="0">
                          <a:solidFill>
                            <a:srgbClr val="242424"/>
                          </a:solidFill>
                          <a:latin typeface="Aptos"/>
                          <a:ea typeface="Aptos"/>
                          <a:cs typeface="Aptos"/>
                        </a:rPr>
                        <a:t>Arrive</a:t>
                      </a:r>
                    </a:p>
                  </a:txBody>
                  <a:tcPr marL="91440" marR="91440" marT="45720" marB="45720">
                    <a:solidFill>
                      <a:srgbClr val="F0EBE5"/>
                    </a:solidFill>
                  </a:tcPr>
                </a:tc>
                <a:tc>
                  <a:txBody>
                    <a:bodyPr/>
                    <a:lstStyle/>
                    <a:p>
                      <a:r>
                        <a:rPr sz="1650" b="0">
                          <a:solidFill>
                            <a:srgbClr val="242424"/>
                          </a:solidFill>
                          <a:latin typeface="Aptos"/>
                          <a:ea typeface="Aptos"/>
                          <a:cs typeface="Aptos"/>
                        </a:rPr>
                        <a:t>Does the home match the promise?</a:t>
                      </a:r>
                    </a:p>
                  </a:txBody>
                  <a:tcPr marL="91440" marR="91440" marT="45720" marB="45720">
                    <a:solidFill>
                      <a:srgbClr val="F0EBE5"/>
                    </a:solidFill>
                  </a:tcPr>
                </a:tc>
                <a:tc>
                  <a:txBody>
                    <a:bodyPr/>
                    <a:lstStyle/>
                    <a:p>
                      <a:r>
                        <a:rPr sz="1650" b="0">
                          <a:solidFill>
                            <a:srgbClr val="242424"/>
                          </a:solidFill>
                          <a:latin typeface="Aptos"/>
                          <a:ea typeface="Aptos"/>
                          <a:cs typeface="Aptos"/>
                        </a:rPr>
                        <a:t>Disputes and costly recovery</a:t>
                      </a:r>
                    </a:p>
                  </a:txBody>
                  <a:tcPr marL="91440" marR="91440" marT="45720" marB="45720">
                    <a:solidFill>
                      <a:srgbClr val="F0EBE5"/>
                    </a:solidFill>
                  </a:tcPr>
                </a:tc>
              </a:tr>
            </a:tbl>
          </a:graphicData>
        </a:graphic>
      </p:graphicFrame>
      <p:sp>
        <p:nvSpPr>
          <p:cNvPr id="6" name="">
            <a:extLst xmlns:a="http://schemas.openxmlformats.org/drawingml/2006/main">
              <a:ext uri="{FF2B5EF4-FFF2-40B4-BE49-F238E27FC236}">
                <a16:creationId xmlns:a16="http://schemas.microsoft.com/office/drawing/2014/main" id="{0A59BD78-22F5-443A-ABAE-307CDB8410B6}"/>
              </a:ext>
            </a:extLst>
          </p:cNvPr>
          <p:cNvSpPr>
            <a:spLocks xmlns:a="http://schemas.openxmlformats.org/drawingml/2006/main" noGrp="1"/>
          </p:cNvSpPr>
          <p:nvPr/>
        </p:nvSpPr>
        <p:spPr>
          <a:xfrm xmlns:a="http://schemas.openxmlformats.org/drawingml/2006/main">
            <a:off x="619125" y="5505450"/>
            <a:ext cx="2667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D94750"/>
                </a:solidFill>
                <a:latin typeface="Aptos"/>
                <a:ea typeface="Aptos"/>
                <a:cs typeface="Aptos"/>
              </a:defRPr>
            </a:pPr>
            <a:r>
              <a:rPr sz="1650" b="1">
                <a:solidFill>
                  <a:srgbClr val="D94750"/>
                </a:solidFill>
                <a:latin typeface="Aptos"/>
                <a:ea typeface="Aptos"/>
                <a:cs typeface="Aptos"/>
              </a:rPr>
              <a:t>Discovery proposal</a:t>
            </a:r>
          </a:p>
        </p:txBody>
      </p:sp>
      <p:sp>
        <p:nvSpPr>
          <p:cNvPr id="7" name="">
            <a:extLst xmlns:a="http://schemas.openxmlformats.org/drawingml/2006/main">
              <a:ext uri="{FF2B5EF4-FFF2-40B4-BE49-F238E27FC236}">
                <a16:creationId xmlns:a16="http://schemas.microsoft.com/office/drawing/2014/main" id="{9BC32035-68EF-4F23-8CB3-7C6BA718F867}"/>
              </a:ext>
            </a:extLst>
          </p:cNvPr>
          <p:cNvSpPr>
            <a:spLocks xmlns:a="http://schemas.openxmlformats.org/drawingml/2006/main" noGrp="1"/>
          </p:cNvSpPr>
          <p:nvPr/>
        </p:nvSpPr>
        <p:spPr>
          <a:xfrm xmlns:a="http://schemas.openxmlformats.org/drawingml/2006/main">
            <a:off x="619125" y="58674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42424"/>
                </a:solidFill>
                <a:latin typeface="Aptos"/>
                <a:ea typeface="Aptos"/>
                <a:cs typeface="Aptos"/>
              </a:defRPr>
            </a:pPr>
            <a:r>
              <a:rPr sz="1875" b="0">
                <a:solidFill>
                  <a:srgbClr val="242424"/>
                </a:solidFill>
                <a:latin typeface="Aptos"/>
                <a:ea typeface="Aptos"/>
                <a:cs typeface="Aptos"/>
              </a:rPr>
              <a:t>12 guest decision replays + 8 host interviews + 6 booking-task tests</a:t>
            </a:r>
          </a:p>
        </p:txBody>
      </p:sp>
    </p:spTree>
    <p:extLst>
      <p:ext uri="{BB962C8B-B14F-4D97-AF65-F5344CB8AC3E}">
        <p14:creationId xmlns:p14="http://schemas.microsoft.com/office/powerpoint/2010/main" val="824188517"/>
      </p:ext>
    </p:extLst>
  </p:cSld>
</p:sld>
</file>

<file path=ppt/slides/slide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EF2C92-C9EB-4A7E-95B2-8335D55E1B17}"/>
              </a:ext>
            </a:extLst>
          </p:cNvPr>
          <p:cNvSpPr>
            <a:spLocks xmlns:a="http://schemas.openxmlformats.org/drawingml/2006/main" noGrp="1"/>
          </p:cNvSpPr>
          <p:nvPr/>
        </p:nvSpPr>
        <p:spPr>
          <a:xfrm xmlns:a="http://schemas.openxmlformats.org/drawingml/2006/main">
            <a:off x="11239500" y="4286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D94750"/>
                </a:solidFill>
                <a:latin typeface="Aptos"/>
                <a:ea typeface="Aptos"/>
                <a:cs typeface="Aptos"/>
              </a:defRPr>
            </a:pPr>
            <a:r>
              <a:rPr sz="1275" b="1">
                <a:solidFill>
                  <a:srgbClr val="D94750"/>
                </a:solidFill>
                <a:latin typeface="Aptos"/>
                <a:ea typeface="Aptos"/>
                <a:cs typeface="Aptos"/>
              </a:rPr>
              <a:t>04</a:t>
            </a:r>
          </a:p>
        </p:txBody>
      </p:sp>
      <p:sp>
        <p:nvSpPr>
          <p:cNvPr id="2" name="">
            <a:extLst xmlns:a="http://schemas.openxmlformats.org/drawingml/2006/main">
              <a:ext uri="{FF2B5EF4-FFF2-40B4-BE49-F238E27FC236}">
                <a16:creationId xmlns:a16="http://schemas.microsoft.com/office/drawing/2014/main" id="{7FB209DF-4CA8-4295-89DF-16AFDCC17C96}"/>
              </a:ext>
            </a:extLst>
          </p:cNvPr>
          <p:cNvSpPr>
            <a:spLocks xmlns:a="http://schemas.openxmlformats.org/drawingml/2006/main" noGrp="1"/>
          </p:cNvSpPr>
          <p:nvPr/>
        </p:nvSpPr>
        <p:spPr>
          <a:xfrm xmlns:a="http://schemas.openxmlformats.org/drawingml/2006/main">
            <a:off x="609600" y="5238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Airbnb already has much of the foundation</a:t>
            </a:r>
          </a:p>
        </p:txBody>
      </p:sp>
      <p:sp>
        <p:nvSpPr>
          <p:cNvPr id="3" name="">
            <a:extLst xmlns:a="http://schemas.openxmlformats.org/drawingml/2006/main">
              <a:ext uri="{FF2B5EF4-FFF2-40B4-BE49-F238E27FC236}">
                <a16:creationId xmlns:a16="http://schemas.microsoft.com/office/drawing/2014/main" id="{90D9227B-4938-43FA-800B-FE923CFE62ED}"/>
              </a:ext>
            </a:extLst>
          </p:cNvPr>
          <p:cNvSpPr>
            <a:spLocks xmlns:a="http://schemas.openxmlformats.org/drawingml/2006/main" noGrp="1"/>
          </p:cNvSpPr>
          <p:nvPr/>
        </p:nvSpPr>
        <p:spPr>
          <a:xfrm xmlns:a="http://schemas.openxmlformats.org/drawingml/2006/main">
            <a:off x="628650" y="16097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6E6963"/>
                </a:solidFill>
                <a:latin typeface="Aptos"/>
                <a:ea typeface="Aptos"/>
                <a:cs typeface="Aptos"/>
              </a:defRPr>
            </a:pPr>
            <a:r>
              <a:rPr sz="1575" b="0">
                <a:solidFill>
                  <a:srgbClr val="6E6963"/>
                </a:solidFill>
                <a:latin typeface="Aptos"/>
                <a:ea typeface="Aptos"/>
                <a:cs typeface="Aptos"/>
              </a:rPr>
              <a:t>Public experience review: the opportunity is to connect information at the decision point</a:t>
            </a:r>
          </a:p>
        </p:txBody>
      </p:sp>
      <p:sp>
        <p:nvSpPr>
          <p:cNvPr id="4" name="">
            <a:extLst xmlns:a="http://schemas.openxmlformats.org/drawingml/2006/main">
              <a:ext uri="{FF2B5EF4-FFF2-40B4-BE49-F238E27FC236}">
                <a16:creationId xmlns:a16="http://schemas.microsoft.com/office/drawing/2014/main" id="{F430C78F-80E3-4585-BF51-064896914700}"/>
              </a:ext>
            </a:extLst>
          </p:cNvPr>
          <p:cNvSpPr>
            <a:spLocks xmlns:a="http://schemas.openxmlformats.org/drawingml/2006/main" noGrp="1"/>
          </p:cNvSpPr>
          <p:nvPr/>
        </p:nvSpPr>
        <p:spPr>
          <a:xfrm xmlns:a="http://schemas.openxmlformats.org/drawingml/2006/main">
            <a:off x="628650" y="6467475"/>
            <a:ext cx="971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6E6963"/>
                </a:solidFill>
                <a:latin typeface="Aptos"/>
                <a:ea typeface="Aptos"/>
                <a:cs typeface="Aptos"/>
              </a:defRPr>
            </a:pPr>
            <a:r>
              <a:rPr sz="900" b="0">
                <a:solidFill>
                  <a:srgbClr val="6E6963"/>
                </a:solidFill>
                <a:latin typeface="Aptos"/>
                <a:ea typeface="Aptos"/>
                <a:cs typeface="Aptos"/>
              </a:rPr>
              <a:t>Independent product case study. Not affiliated with Airbnb.</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7592f49b55f48a7"/>
          <a:stretch xmlns:a="http://schemas.openxmlformats.org/drawingml/2006/main"/>
        </p:blipFill>
        <p:spPr>
          <a:xfrm xmlns:a="http://schemas.openxmlformats.org/drawingml/2006/main">
            <a:off x="642938" y="2333625"/>
            <a:ext cx="4714875"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F0A5EB0-AC76-4FA3-B38A-5D130E781613}"/>
              </a:ext>
            </a:extLst>
          </p:cNvPr>
          <p:cNvSpPr>
            <a:spLocks xmlns:a="http://schemas.openxmlformats.org/drawingml/2006/main" noGrp="1"/>
          </p:cNvSpPr>
          <p:nvPr/>
        </p:nvSpPr>
        <p:spPr>
          <a:xfrm xmlns:a="http://schemas.openxmlformats.org/drawingml/2006/main">
            <a:off x="628650" y="55911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6E6963"/>
                </a:solidFill>
                <a:latin typeface="Aptos"/>
                <a:ea typeface="Aptos"/>
                <a:cs typeface="Aptos"/>
              </a:defRPr>
            </a:pPr>
            <a:r>
              <a:rPr sz="1125" b="0">
                <a:solidFill>
                  <a:srgbClr val="6E6963"/>
                </a:solidFill>
                <a:latin typeface="Aptos"/>
                <a:ea typeface="Aptos"/>
                <a:cs typeface="Aptos"/>
              </a:rPr>
              <a:t>Airbnb editorial image · April 2025</a:t>
            </a:r>
          </a:p>
        </p:txBody>
      </p:sp>
      <p:sp>
        <p:nvSpPr>
          <p:cNvPr id="7" name="">
            <a:extLst xmlns:a="http://schemas.openxmlformats.org/drawingml/2006/main">
              <a:ext uri="{FF2B5EF4-FFF2-40B4-BE49-F238E27FC236}">
                <a16:creationId xmlns:a16="http://schemas.microsoft.com/office/drawing/2014/main" id="{7750BF6E-7C1B-4B09-A358-39454DE0B920}"/>
              </a:ext>
            </a:extLst>
          </p:cNvPr>
          <p:cNvSpPr>
            <a:spLocks xmlns:a="http://schemas.openxmlformats.org/drawingml/2006/main" noGrp="1"/>
          </p:cNvSpPr>
          <p:nvPr/>
        </p:nvSpPr>
        <p:spPr>
          <a:xfrm xmlns:a="http://schemas.openxmlformats.org/drawingml/2006/main">
            <a:off x="6000750" y="2324100"/>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D94750"/>
                </a:solidFill>
                <a:latin typeface="Aptos"/>
                <a:ea typeface="Aptos"/>
                <a:cs typeface="Aptos"/>
              </a:defRPr>
            </a:pPr>
            <a:r>
              <a:rPr sz="1875" b="1">
                <a:solidFill>
                  <a:srgbClr val="D94750"/>
                </a:solidFill>
                <a:latin typeface="Aptos"/>
                <a:ea typeface="Aptos"/>
                <a:cs typeface="Aptos"/>
              </a:rPr>
              <a:t>Existing foundation</a:t>
            </a:r>
          </a:p>
        </p:txBody>
      </p:sp>
      <p:sp>
        <p:nvSpPr>
          <p:cNvPr id="8" name="">
            <a:extLst xmlns:a="http://schemas.openxmlformats.org/drawingml/2006/main">
              <a:ext uri="{FF2B5EF4-FFF2-40B4-BE49-F238E27FC236}">
                <a16:creationId xmlns:a16="http://schemas.microsoft.com/office/drawing/2014/main" id="{B6BEDFF9-8D33-4737-ADE8-1793F90B5339}"/>
              </a:ext>
            </a:extLst>
          </p:cNvPr>
          <p:cNvSpPr>
            <a:spLocks xmlns:a="http://schemas.openxmlformats.org/drawingml/2006/main" noGrp="1"/>
          </p:cNvSpPr>
          <p:nvPr/>
        </p:nvSpPr>
        <p:spPr>
          <a:xfrm xmlns:a="http://schemas.openxmlformats.org/drawingml/2006/main">
            <a:off x="6000750" y="2762250"/>
            <a:ext cx="5429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42424"/>
                </a:solidFill>
                <a:latin typeface="Aptos"/>
                <a:ea typeface="Aptos"/>
                <a:cs typeface="Aptos"/>
              </a:defRPr>
            </a:pPr>
            <a:r>
              <a:rPr sz="1875" b="0">
                <a:solidFill>
                  <a:srgbClr val="242424"/>
                </a:solidFill>
                <a:latin typeface="Aptos"/>
                <a:ea typeface="Aptos"/>
                <a:cs typeface="Aptos"/>
              </a:rPr>
              <a:t>Monthly amenity highlights and wifi tests</a:t>
            </a:r>
          </a:p>
          <a:p xmlns:a="http://schemas.openxmlformats.org/drawingml/2006/main">
            <a:pPr>
              <a:defRPr sz="1875" b="0">
                <a:solidFill>
                  <a:srgbClr val="242424"/>
                </a:solidFill>
                <a:latin typeface="Aptos"/>
                <a:ea typeface="Aptos"/>
                <a:cs typeface="Aptos"/>
              </a:defRPr>
            </a:pPr>
            <a:r>
              <a:rPr sz="1875" b="0">
                <a:solidFill>
                  <a:srgbClr val="242424"/>
                </a:solidFill>
                <a:latin typeface="Aptos"/>
                <a:ea typeface="Aptos"/>
                <a:cs typeface="Aptos"/>
              </a:rPr>
              <a:t>Fee-inclusive search totals before taxes¹</a:t>
            </a:r>
          </a:p>
          <a:p xmlns:a="http://schemas.openxmlformats.org/drawingml/2006/main">
            <a:pPr>
              <a:defRPr sz="1875" b="0">
                <a:solidFill>
                  <a:srgbClr val="242424"/>
                </a:solidFill>
                <a:latin typeface="Aptos"/>
                <a:ea typeface="Aptos"/>
                <a:cs typeface="Aptos"/>
              </a:defRPr>
            </a:pPr>
            <a:r>
              <a:rPr sz="1875" b="0">
                <a:solidFill>
                  <a:srgbClr val="242424"/>
                </a:solidFill>
                <a:latin typeface="Aptos"/>
                <a:ea typeface="Aptos"/>
                <a:cs typeface="Aptos"/>
              </a:rPr>
              <a:t>Monthly payments and long-stay policies</a:t>
            </a:r>
          </a:p>
        </p:txBody>
      </p:sp>
      <p:sp>
        <p:nvSpPr>
          <p:cNvPr id="9" name="">
            <a:extLst xmlns:a="http://schemas.openxmlformats.org/drawingml/2006/main">
              <a:ext uri="{FF2B5EF4-FFF2-40B4-BE49-F238E27FC236}">
                <a16:creationId xmlns:a16="http://schemas.microsoft.com/office/drawing/2014/main" id="{8740F14F-BD8D-4CE2-9673-ADAA0B9CE235}"/>
              </a:ext>
            </a:extLst>
          </p:cNvPr>
          <p:cNvSpPr>
            <a:spLocks xmlns:a="http://schemas.openxmlformats.org/drawingml/2006/main" noGrp="1"/>
          </p:cNvSpPr>
          <p:nvPr/>
        </p:nvSpPr>
        <p:spPr>
          <a:xfrm xmlns:a="http://schemas.openxmlformats.org/drawingml/2006/main">
            <a:off x="6000750" y="43148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D94750"/>
                </a:solidFill>
                <a:latin typeface="Aptos"/>
                <a:ea typeface="Aptos"/>
                <a:cs typeface="Aptos"/>
              </a:defRPr>
            </a:pPr>
            <a:r>
              <a:rPr sz="1875" b="1">
                <a:solidFill>
                  <a:srgbClr val="D94750"/>
                </a:solidFill>
                <a:latin typeface="Aptos"/>
                <a:ea typeface="Aptos"/>
                <a:cs typeface="Aptos"/>
              </a:rPr>
              <a:t>Proposed improvement</a:t>
            </a:r>
          </a:p>
        </p:txBody>
      </p:sp>
      <p:sp>
        <p:nvSpPr>
          <p:cNvPr id="10" name="">
            <a:extLst xmlns:a="http://schemas.openxmlformats.org/drawingml/2006/main">
              <a:ext uri="{FF2B5EF4-FFF2-40B4-BE49-F238E27FC236}">
                <a16:creationId xmlns:a16="http://schemas.microsoft.com/office/drawing/2014/main" id="{4920F3CC-236E-4984-ABE0-AA0981694939}"/>
              </a:ext>
            </a:extLst>
          </p:cNvPr>
          <p:cNvSpPr>
            <a:spLocks xmlns:a="http://schemas.openxmlformats.org/drawingml/2006/main" noGrp="1"/>
          </p:cNvSpPr>
          <p:nvPr/>
        </p:nvSpPr>
        <p:spPr>
          <a:xfrm xmlns:a="http://schemas.openxmlformats.org/drawingml/2006/main">
            <a:off x="6000750" y="473392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242424"/>
                </a:solidFill>
                <a:latin typeface="Aptos"/>
                <a:ea typeface="Aptos"/>
                <a:cs typeface="Aptos"/>
              </a:defRPr>
            </a:pPr>
            <a:r>
              <a:rPr sz="1950" b="0">
                <a:solidFill>
                  <a:srgbClr val="242424"/>
                </a:solidFill>
                <a:latin typeface="Aptos"/>
                <a:ea typeface="Aptos"/>
                <a:cs typeface="Aptos"/>
              </a:rPr>
              <a:t>One decision view with dated work evidence,</a:t>
            </a:r>
          </a:p>
          <a:p xmlns:a="http://schemas.openxmlformats.org/drawingml/2006/main">
            <a:pPr>
              <a:defRPr sz="1950" b="0">
                <a:solidFill>
                  <a:srgbClr val="242424"/>
                </a:solidFill>
                <a:latin typeface="Aptos"/>
                <a:ea typeface="Aptos"/>
                <a:cs typeface="Aptos"/>
              </a:defRPr>
            </a:pPr>
            <a:r>
              <a:rPr sz="1950" b="0">
                <a:solidFill>
                  <a:srgbClr val="242424"/>
                </a:solidFill>
                <a:latin typeface="Aptos"/>
                <a:ea typeface="Aptos"/>
                <a:cs typeface="Aptos"/>
              </a:rPr>
              <a:t>charge timing and cancellation exposure.</a:t>
            </a:r>
          </a:p>
        </p:txBody>
      </p:sp>
      <p:sp>
        <p:nvSpPr>
          <p:cNvPr id="11" name="">
            <a:extLst xmlns:a="http://schemas.openxmlformats.org/drawingml/2006/main">
              <a:ext uri="{FF2B5EF4-FFF2-40B4-BE49-F238E27FC236}">
                <a16:creationId xmlns:a16="http://schemas.microsoft.com/office/drawing/2014/main" id="{03AE3C1B-1CCB-408E-AE78-441044971663}"/>
              </a:ext>
            </a:extLst>
          </p:cNvPr>
          <p:cNvSpPr>
            <a:spLocks xmlns:a="http://schemas.openxmlformats.org/drawingml/2006/main" noGrp="1"/>
          </p:cNvSpPr>
          <p:nvPr/>
        </p:nvSpPr>
        <p:spPr>
          <a:xfrm xmlns:a="http://schemas.openxmlformats.org/drawingml/2006/main">
            <a:off x="619125" y="6048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6E6963"/>
                </a:solidFill>
                <a:latin typeface="Aptos"/>
                <a:ea typeface="Aptos"/>
                <a:cs typeface="Aptos"/>
              </a:defRPr>
            </a:pPr>
            <a:r>
              <a:rPr sz="1275" b="0">
                <a:solidFill>
                  <a:srgbClr val="6E6963"/>
                </a:solidFill>
                <a:latin typeface="Aptos"/>
                <a:ea typeface="Aptos"/>
                <a:cs typeface="Aptos"/>
              </a:rPr>
              <a:t>¹ Tax display varies. Domestic monthly stays in India require full payment at confirmation.</a:t>
            </a:r>
          </a:p>
        </p:txBody>
      </p:sp>
    </p:spTree>
    <p:extLst>
      <p:ext uri="{BB962C8B-B14F-4D97-AF65-F5344CB8AC3E}">
        <p14:creationId xmlns:p14="http://schemas.microsoft.com/office/powerpoint/2010/main" val="2049000873"/>
      </p:ext>
    </p:extLst>
  </p:cSld>
</p:sld>
</file>

<file path=ppt/slides/slide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D45D9FC-CABB-4503-8497-B21CD0599EAA}"/>
              </a:ext>
            </a:extLst>
          </p:cNvPr>
          <p:cNvSpPr>
            <a:spLocks xmlns:a="http://schemas.openxmlformats.org/drawingml/2006/main" noGrp="1"/>
          </p:cNvSpPr>
          <p:nvPr/>
        </p:nvSpPr>
        <p:spPr>
          <a:xfrm xmlns:a="http://schemas.openxmlformats.org/drawingml/2006/main">
            <a:off x="11239500" y="4286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D94750"/>
                </a:solidFill>
                <a:latin typeface="Aptos"/>
                <a:ea typeface="Aptos"/>
                <a:cs typeface="Aptos"/>
              </a:defRPr>
            </a:pPr>
            <a:r>
              <a:rPr sz="1275" b="1">
                <a:solidFill>
                  <a:srgbClr val="D94750"/>
                </a:solidFill>
                <a:latin typeface="Aptos"/>
                <a:ea typeface="Aptos"/>
                <a:cs typeface="Aptos"/>
              </a:rPr>
              <a:t>05</a:t>
            </a:r>
          </a:p>
        </p:txBody>
      </p:sp>
      <p:sp>
        <p:nvSpPr>
          <p:cNvPr id="2" name="">
            <a:extLst xmlns:a="http://schemas.openxmlformats.org/drawingml/2006/main">
              <a:ext uri="{FF2B5EF4-FFF2-40B4-BE49-F238E27FC236}">
                <a16:creationId xmlns:a16="http://schemas.microsoft.com/office/drawing/2014/main" id="{477CA9C6-A833-40B8-8FC3-5FE8D6B97F88}"/>
              </a:ext>
            </a:extLst>
          </p:cNvPr>
          <p:cNvSpPr>
            <a:spLocks xmlns:a="http://schemas.openxmlformats.org/drawingml/2006/main" noGrp="1"/>
          </p:cNvSpPr>
          <p:nvPr/>
        </p:nvSpPr>
        <p:spPr>
          <a:xfrm xmlns:a="http://schemas.openxmlformats.org/drawingml/2006/main">
            <a:off x="609600" y="5238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The opportunity depends on qualified demand</a:t>
            </a:r>
          </a:p>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and enough suitable homes</a:t>
            </a:r>
          </a:p>
        </p:txBody>
      </p:sp>
      <p:sp>
        <p:nvSpPr>
          <p:cNvPr id="3" name="">
            <a:extLst xmlns:a="http://schemas.openxmlformats.org/drawingml/2006/main">
              <a:ext uri="{FF2B5EF4-FFF2-40B4-BE49-F238E27FC236}">
                <a16:creationId xmlns:a16="http://schemas.microsoft.com/office/drawing/2014/main" id="{0660E415-A71F-4340-A43E-4FD372D0F934}"/>
              </a:ext>
            </a:extLst>
          </p:cNvPr>
          <p:cNvSpPr>
            <a:spLocks xmlns:a="http://schemas.openxmlformats.org/drawingml/2006/main" noGrp="1"/>
          </p:cNvSpPr>
          <p:nvPr/>
        </p:nvSpPr>
        <p:spPr>
          <a:xfrm xmlns:a="http://schemas.openxmlformats.org/drawingml/2006/main">
            <a:off x="628650" y="16097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6E6963"/>
                </a:solidFill>
                <a:latin typeface="Aptos"/>
                <a:ea typeface="Aptos"/>
                <a:cs typeface="Aptos"/>
              </a:defRPr>
            </a:pPr>
            <a:r>
              <a:rPr sz="1575" b="0">
                <a:solidFill>
                  <a:srgbClr val="6E6963"/>
                </a:solidFill>
                <a:latin typeface="Aptos"/>
                <a:ea typeface="Aptos"/>
                <a:cs typeface="Aptos"/>
              </a:rPr>
              <a:t>Illustrative sizing model. Every input below is an assumption, not Airbnb data</a:t>
            </a:r>
          </a:p>
        </p:txBody>
      </p:sp>
      <p:sp>
        <p:nvSpPr>
          <p:cNvPr id="4" name="">
            <a:extLst xmlns:a="http://schemas.openxmlformats.org/drawingml/2006/main">
              <a:ext uri="{FF2B5EF4-FFF2-40B4-BE49-F238E27FC236}">
                <a16:creationId xmlns:a16="http://schemas.microsoft.com/office/drawing/2014/main" id="{417673E8-852B-403E-A332-711C5FD2A8D8}"/>
              </a:ext>
            </a:extLst>
          </p:cNvPr>
          <p:cNvSpPr>
            <a:spLocks xmlns:a="http://schemas.openxmlformats.org/drawingml/2006/main" noGrp="1"/>
          </p:cNvSpPr>
          <p:nvPr/>
        </p:nvSpPr>
        <p:spPr>
          <a:xfrm xmlns:a="http://schemas.openxmlformats.org/drawingml/2006/main">
            <a:off x="628650" y="6467475"/>
            <a:ext cx="971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6E6963"/>
                </a:solidFill>
                <a:latin typeface="Aptos"/>
                <a:ea typeface="Aptos"/>
                <a:cs typeface="Aptos"/>
              </a:defRPr>
            </a:pPr>
            <a:r>
              <a:rPr sz="900" b="0">
                <a:solidFill>
                  <a:srgbClr val="6E6963"/>
                </a:solidFill>
                <a:latin typeface="Aptos"/>
                <a:ea typeface="Aptos"/>
                <a:cs typeface="Aptos"/>
              </a:rPr>
              <a:t>Independent product case study. Not affiliated with Airbnb.</a:t>
            </a:r>
          </a:p>
        </p:txBody>
      </p:sp>
      <p:sp>
        <p:nvSpPr>
          <p:cNvPr id="5" name="">
            <a:extLst xmlns:a="http://schemas.openxmlformats.org/drawingml/2006/main">
              <a:ext uri="{FF2B5EF4-FFF2-40B4-BE49-F238E27FC236}">
                <a16:creationId xmlns:a16="http://schemas.microsoft.com/office/drawing/2014/main" id="{22B0A6A8-491B-4AD3-879B-7DCA5830FD31}"/>
              </a:ext>
            </a:extLst>
          </p:cNvPr>
          <p:cNvSpPr>
            <a:spLocks xmlns:a="http://schemas.openxmlformats.org/drawingml/2006/main" noGrp="1"/>
          </p:cNvSpPr>
          <p:nvPr/>
        </p:nvSpPr>
        <p:spPr>
          <a:xfrm xmlns:a="http://schemas.openxmlformats.org/drawingml/2006/main">
            <a:off x="619125" y="2419350"/>
            <a:ext cx="3571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650" b="1">
                <a:solidFill>
                  <a:srgbClr val="242424"/>
                </a:solidFill>
                <a:latin typeface="Aptos"/>
                <a:ea typeface="Aptos"/>
                <a:cs typeface="Aptos"/>
              </a:defRPr>
            </a:pPr>
            <a:r>
              <a:rPr sz="4650" b="1">
                <a:solidFill>
                  <a:srgbClr val="242424"/>
                </a:solidFill>
                <a:latin typeface="Aptos"/>
                <a:ea typeface="Aptos"/>
                <a:cs typeface="Aptos"/>
              </a:rPr>
              <a:t>100,000</a:t>
            </a:r>
          </a:p>
        </p:txBody>
      </p:sp>
      <p:sp>
        <p:nvSpPr>
          <p:cNvPr id="6" name="">
            <a:extLst xmlns:a="http://schemas.openxmlformats.org/drawingml/2006/main">
              <a:ext uri="{FF2B5EF4-FFF2-40B4-BE49-F238E27FC236}">
                <a16:creationId xmlns:a16="http://schemas.microsoft.com/office/drawing/2014/main" id="{CB423843-50BF-4FF5-BEBD-973962AC864D}"/>
              </a:ext>
            </a:extLst>
          </p:cNvPr>
          <p:cNvSpPr>
            <a:spLocks xmlns:a="http://schemas.openxmlformats.org/drawingml/2006/main" noGrp="1"/>
          </p:cNvSpPr>
          <p:nvPr/>
        </p:nvSpPr>
        <p:spPr>
          <a:xfrm xmlns:a="http://schemas.openxmlformats.org/drawingml/2006/main">
            <a:off x="647700" y="3267075"/>
            <a:ext cx="333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E6963"/>
                </a:solidFill>
                <a:latin typeface="Aptos"/>
                <a:ea typeface="Aptos"/>
                <a:cs typeface="Aptos"/>
              </a:defRPr>
            </a:pPr>
            <a:r>
              <a:rPr sz="1800" b="0">
                <a:solidFill>
                  <a:srgbClr val="6E6963"/>
                </a:solidFill>
                <a:latin typeface="Aptos"/>
                <a:ea typeface="Aptos"/>
                <a:cs typeface="Aptos"/>
              </a:rPr>
              <a:t>eligible searchers / quarter</a:t>
            </a:r>
          </a:p>
        </p:txBody>
      </p:sp>
      <p:sp>
        <p:nvSpPr>
          <p:cNvPr id="7" name="">
            <a:extLst xmlns:a="http://schemas.openxmlformats.org/drawingml/2006/main">
              <a:ext uri="{FF2B5EF4-FFF2-40B4-BE49-F238E27FC236}">
                <a16:creationId xmlns:a16="http://schemas.microsoft.com/office/drawing/2014/main" id="{7316A5AF-A3C0-4E77-BFF9-420689FDB9CE}"/>
              </a:ext>
            </a:extLst>
          </p:cNvPr>
          <p:cNvSpPr>
            <a:spLocks xmlns:a="http://schemas.openxmlformats.org/drawingml/2006/main" noGrp="1"/>
          </p:cNvSpPr>
          <p:nvPr/>
        </p:nvSpPr>
        <p:spPr>
          <a:xfrm xmlns:a="http://schemas.openxmlformats.org/drawingml/2006/main">
            <a:off x="4714875" y="2419350"/>
            <a:ext cx="3190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650" b="1">
                <a:solidFill>
                  <a:srgbClr val="D94750"/>
                </a:solidFill>
                <a:latin typeface="Aptos"/>
                <a:ea typeface="Aptos"/>
                <a:cs typeface="Aptos"/>
              </a:defRPr>
            </a:pPr>
            <a:r>
              <a:rPr sz="4650" b="1">
                <a:solidFill>
                  <a:srgbClr val="D94750"/>
                </a:solidFill>
                <a:latin typeface="Aptos"/>
                <a:ea typeface="Aptos"/>
                <a:cs typeface="Aptos"/>
              </a:rPr>
              <a:t>+0.5 pp</a:t>
            </a:r>
          </a:p>
        </p:txBody>
      </p:sp>
      <p:sp>
        <p:nvSpPr>
          <p:cNvPr id="8" name="">
            <a:extLst xmlns:a="http://schemas.openxmlformats.org/drawingml/2006/main">
              <a:ext uri="{FF2B5EF4-FFF2-40B4-BE49-F238E27FC236}">
                <a16:creationId xmlns:a16="http://schemas.microsoft.com/office/drawing/2014/main" id="{D5F5130D-1C2F-4161-BA55-5CB335BF951F}"/>
              </a:ext>
            </a:extLst>
          </p:cNvPr>
          <p:cNvSpPr>
            <a:spLocks xmlns:a="http://schemas.openxmlformats.org/drawingml/2006/main" noGrp="1"/>
          </p:cNvSpPr>
          <p:nvPr/>
        </p:nvSpPr>
        <p:spPr>
          <a:xfrm xmlns:a="http://schemas.openxmlformats.org/drawingml/2006/main">
            <a:off x="4743450" y="32670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E6963"/>
                </a:solidFill>
                <a:latin typeface="Aptos"/>
                <a:ea typeface="Aptos"/>
                <a:cs typeface="Aptos"/>
              </a:defRPr>
            </a:pPr>
            <a:r>
              <a:rPr sz="1800" b="0">
                <a:solidFill>
                  <a:srgbClr val="6E6963"/>
                </a:solidFill>
                <a:latin typeface="Aptos"/>
                <a:ea typeface="Aptos"/>
                <a:cs typeface="Aptos"/>
              </a:rPr>
              <a:t>absolute booking lift</a:t>
            </a:r>
          </a:p>
          <a:p xmlns:a="http://schemas.openxmlformats.org/drawingml/2006/main">
            <a:pPr>
              <a:defRPr sz="1800" b="0">
                <a:solidFill>
                  <a:srgbClr val="6E6963"/>
                </a:solidFill>
                <a:latin typeface="Aptos"/>
                <a:ea typeface="Aptos"/>
                <a:cs typeface="Aptos"/>
              </a:defRPr>
            </a:pPr>
            <a:r>
              <a:rPr sz="1800" b="0">
                <a:solidFill>
                  <a:srgbClr val="6E6963"/>
                </a:solidFill>
                <a:latin typeface="Aptos"/>
                <a:ea typeface="Aptos"/>
                <a:cs typeface="Aptos"/>
              </a:rPr>
              <a:t>5.0% to 5.5%</a:t>
            </a:r>
          </a:p>
        </p:txBody>
      </p:sp>
      <p:sp>
        <p:nvSpPr>
          <p:cNvPr id="9" name="">
            <a:extLst xmlns:a="http://schemas.openxmlformats.org/drawingml/2006/main">
              <a:ext uri="{FF2B5EF4-FFF2-40B4-BE49-F238E27FC236}">
                <a16:creationId xmlns:a16="http://schemas.microsoft.com/office/drawing/2014/main" id="{E2FA63DC-D6D3-4B46-BF49-5C10482FD84A}"/>
              </a:ext>
            </a:extLst>
          </p:cNvPr>
          <p:cNvSpPr>
            <a:spLocks xmlns:a="http://schemas.openxmlformats.org/drawingml/2006/main" noGrp="1"/>
          </p:cNvSpPr>
          <p:nvPr/>
        </p:nvSpPr>
        <p:spPr>
          <a:xfrm xmlns:a="http://schemas.openxmlformats.org/drawingml/2006/main">
            <a:off x="8810625" y="2419350"/>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650" b="1">
                <a:solidFill>
                  <a:srgbClr val="242424"/>
                </a:solidFill>
                <a:latin typeface="Aptos"/>
                <a:ea typeface="Aptos"/>
                <a:cs typeface="Aptos"/>
              </a:defRPr>
            </a:pPr>
            <a:r>
              <a:rPr sz="4650" b="1">
                <a:solidFill>
                  <a:srgbClr val="242424"/>
                </a:solidFill>
                <a:latin typeface="Aptos"/>
                <a:ea typeface="Aptos"/>
                <a:cs typeface="Aptos"/>
              </a:rPr>
              <a:t>500</a:t>
            </a:r>
          </a:p>
        </p:txBody>
      </p:sp>
      <p:sp>
        <p:nvSpPr>
          <p:cNvPr id="10" name="">
            <a:extLst xmlns:a="http://schemas.openxmlformats.org/drawingml/2006/main">
              <a:ext uri="{FF2B5EF4-FFF2-40B4-BE49-F238E27FC236}">
                <a16:creationId xmlns:a16="http://schemas.microsoft.com/office/drawing/2014/main" id="{5FFEB760-D9B4-419F-99F7-E438CCC1192E}"/>
              </a:ext>
            </a:extLst>
          </p:cNvPr>
          <p:cNvSpPr>
            <a:spLocks xmlns:a="http://schemas.openxmlformats.org/drawingml/2006/main" noGrp="1"/>
          </p:cNvSpPr>
          <p:nvPr/>
        </p:nvSpPr>
        <p:spPr>
          <a:xfrm xmlns:a="http://schemas.openxmlformats.org/drawingml/2006/main">
            <a:off x="8839200" y="3267075"/>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E6963"/>
                </a:solidFill>
                <a:latin typeface="Aptos"/>
                <a:ea typeface="Aptos"/>
                <a:cs typeface="Aptos"/>
              </a:defRPr>
            </a:pPr>
            <a:r>
              <a:rPr sz="1800" b="0">
                <a:solidFill>
                  <a:srgbClr val="6E6963"/>
                </a:solidFill>
                <a:latin typeface="Aptos"/>
                <a:ea typeface="Aptos"/>
                <a:cs typeface="Aptos"/>
              </a:rPr>
              <a:t>incremental bookings</a:t>
            </a:r>
          </a:p>
          <a:p xmlns:a="http://schemas.openxmlformats.org/drawingml/2006/main">
            <a:pPr>
              <a:defRPr sz="1800" b="0">
                <a:solidFill>
                  <a:srgbClr val="6E6963"/>
                </a:solidFill>
                <a:latin typeface="Aptos"/>
                <a:ea typeface="Aptos"/>
                <a:cs typeface="Aptos"/>
              </a:defRPr>
            </a:pPr>
            <a:r>
              <a:rPr sz="1800" b="0">
                <a:solidFill>
                  <a:srgbClr val="6E6963"/>
                </a:solidFill>
                <a:latin typeface="Aptos"/>
                <a:ea typeface="Aptos"/>
                <a:cs typeface="Aptos"/>
              </a:rPr>
              <a:t>before stay-quality checks</a:t>
            </a:r>
          </a:p>
        </p:txBody>
      </p:sp>
      <p:sp>
        <p:nvSpPr>
          <p:cNvPr id="11" name="">
            <a:extLst xmlns:a="http://schemas.openxmlformats.org/drawingml/2006/main">
              <a:ext uri="{FF2B5EF4-FFF2-40B4-BE49-F238E27FC236}">
                <a16:creationId xmlns:a16="http://schemas.microsoft.com/office/drawing/2014/main" id="{BCB46EBC-B648-4D77-AD0C-592D32077A58}"/>
              </a:ext>
            </a:extLst>
          </p:cNvPr>
          <p:cNvSpPr>
            <a:spLocks xmlns:a="http://schemas.openxmlformats.org/drawingml/2006/main" noGrp="1"/>
          </p:cNvSpPr>
          <p:nvPr/>
        </p:nvSpPr>
        <p:spPr>
          <a:xfrm xmlns:a="http://schemas.openxmlformats.org/drawingml/2006/main">
            <a:off x="619125" y="45529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242424"/>
                </a:solidFill>
                <a:latin typeface="Aptos"/>
                <a:ea typeface="Aptos"/>
                <a:cs typeface="Aptos"/>
              </a:defRPr>
            </a:pPr>
            <a:r>
              <a:rPr sz="1875" b="1">
                <a:solidFill>
                  <a:srgbClr val="242424"/>
                </a:solidFill>
                <a:latin typeface="Aptos"/>
                <a:ea typeface="Aptos"/>
                <a:cs typeface="Aptos"/>
              </a:rPr>
              <a:t>Illustrative sensitivity</a:t>
            </a:r>
          </a:p>
        </p:txBody>
      </p:sp>
      <p:graphicFrame>
        <p:nvGraphicFramePr>
          <p:cNvPr id="24" name=""/>
          <p:cNvGraphicFramePr/>
          <p:nvPr/>
        </p:nvGraphicFramePr>
        <p:xfrm>
          <a:off xmlns:a="http://schemas.openxmlformats.org/drawingml/2006/main" x="619125" y="4991100"/>
          <a:ext xmlns:a="http://schemas.openxmlformats.org/drawingml/2006/main" cx="10953750" cy="952500"/>
        </p:xfrm>
        <a:graphic xmlns:a="http://schemas.openxmlformats.org/drawingml/2006/main">
          <a:graphicData uri="http://schemas.openxmlformats.org/drawingml/2006/table">
            <a:tbl>
              <a:tblPr/>
              <a:tblGrid>
                <a:gridCol w="3667125"/>
                <a:gridCol w="2428875"/>
                <a:gridCol w="2428875"/>
                <a:gridCol w="2428875"/>
              </a:tblGrid>
              <a:tr h="476250">
                <a:tc>
                  <a:txBody>
                    <a:bodyPr/>
                    <a:lstStyle/>
                    <a:p>
                      <a:r>
                        <a:rPr sz="1425" b="1">
                          <a:solidFill>
                            <a:srgbClr val="242424"/>
                          </a:solidFill>
                          <a:latin typeface="Aptos"/>
                          <a:ea typeface="Aptos"/>
                          <a:cs typeface="Aptos"/>
                        </a:rPr>
                        <a:t>Absolute lift</a:t>
                      </a:r>
                    </a:p>
                  </a:txBody>
                  <a:tcPr marL="91440" marR="91440" marT="45720" marB="45720">
                    <a:solidFill>
                      <a:srgbClr val="F3E4DE"/>
                    </a:solidFill>
                  </a:tcPr>
                </a:tc>
                <a:tc>
                  <a:txBody>
                    <a:bodyPr/>
                    <a:lstStyle/>
                    <a:p>
                      <a:r>
                        <a:rPr sz="1425" b="1">
                          <a:solidFill>
                            <a:srgbClr val="242424"/>
                          </a:solidFill>
                          <a:latin typeface="Aptos"/>
                          <a:ea typeface="Aptos"/>
                          <a:cs typeface="Aptos"/>
                        </a:rPr>
                        <a:t>+0.2 pp</a:t>
                      </a:r>
                    </a:p>
                  </a:txBody>
                  <a:tcPr marL="91440" marR="91440" marT="45720" marB="45720">
                    <a:solidFill>
                      <a:srgbClr val="F3E4DE"/>
                    </a:solidFill>
                  </a:tcPr>
                </a:tc>
                <a:tc>
                  <a:txBody>
                    <a:bodyPr/>
                    <a:lstStyle/>
                    <a:p>
                      <a:r>
                        <a:rPr sz="1425" b="1">
                          <a:solidFill>
                            <a:srgbClr val="242424"/>
                          </a:solidFill>
                          <a:latin typeface="Aptos"/>
                          <a:ea typeface="Aptos"/>
                          <a:cs typeface="Aptos"/>
                        </a:rPr>
                        <a:t>+0.5 pp</a:t>
                      </a:r>
                    </a:p>
                  </a:txBody>
                  <a:tcPr marL="91440" marR="91440" marT="45720" marB="45720">
                    <a:solidFill>
                      <a:srgbClr val="F3E4DE"/>
                    </a:solidFill>
                  </a:tcPr>
                </a:tc>
                <a:tc>
                  <a:txBody>
                    <a:bodyPr/>
                    <a:lstStyle/>
                    <a:p>
                      <a:r>
                        <a:rPr sz="1425" b="1">
                          <a:solidFill>
                            <a:srgbClr val="242424"/>
                          </a:solidFill>
                          <a:latin typeface="Aptos"/>
                          <a:ea typeface="Aptos"/>
                          <a:cs typeface="Aptos"/>
                        </a:rPr>
                        <a:t>+1.0 pp</a:t>
                      </a:r>
                    </a:p>
                  </a:txBody>
                  <a:tcPr marL="91440" marR="91440" marT="45720" marB="45720">
                    <a:solidFill>
                      <a:srgbClr val="F3E4DE"/>
                    </a:solidFill>
                  </a:tcPr>
                </a:tc>
              </a:tr>
              <a:tr h="476250">
                <a:tc>
                  <a:txBody>
                    <a:bodyPr/>
                    <a:lstStyle/>
                    <a:p>
                      <a:r>
                        <a:rPr sz="1650" b="0">
                          <a:solidFill>
                            <a:srgbClr val="242424"/>
                          </a:solidFill>
                          <a:latin typeface="Aptos"/>
                          <a:ea typeface="Aptos"/>
                          <a:cs typeface="Aptos"/>
                        </a:rPr>
                        <a:t>Extra bookings</a:t>
                      </a:r>
                    </a:p>
                  </a:txBody>
                  <a:tcPr marL="91440" marR="91440" marT="45720" marB="45720">
                    <a:solidFill>
                      <a:srgbClr val="F8F5F0"/>
                    </a:solidFill>
                  </a:tcPr>
                </a:tc>
                <a:tc>
                  <a:txBody>
                    <a:bodyPr/>
                    <a:lstStyle/>
                    <a:p>
                      <a:r>
                        <a:rPr sz="1650" b="0">
                          <a:solidFill>
                            <a:srgbClr val="242424"/>
                          </a:solidFill>
                          <a:latin typeface="Aptos"/>
                          <a:ea typeface="Aptos"/>
                          <a:cs typeface="Aptos"/>
                        </a:rPr>
                        <a:t>200</a:t>
                      </a:r>
                    </a:p>
                  </a:txBody>
                  <a:tcPr marL="91440" marR="91440" marT="45720" marB="45720">
                    <a:solidFill>
                      <a:srgbClr val="F8F5F0"/>
                    </a:solidFill>
                  </a:tcPr>
                </a:tc>
                <a:tc>
                  <a:txBody>
                    <a:bodyPr/>
                    <a:lstStyle/>
                    <a:p>
                      <a:r>
                        <a:rPr sz="1650" b="0">
                          <a:solidFill>
                            <a:srgbClr val="242424"/>
                          </a:solidFill>
                          <a:latin typeface="Aptos"/>
                          <a:ea typeface="Aptos"/>
                          <a:cs typeface="Aptos"/>
                        </a:rPr>
                        <a:t>500</a:t>
                      </a:r>
                    </a:p>
                  </a:txBody>
                  <a:tcPr marL="91440" marR="91440" marT="45720" marB="45720">
                    <a:solidFill>
                      <a:srgbClr val="F8F5F0"/>
                    </a:solidFill>
                  </a:tcPr>
                </a:tc>
                <a:tc>
                  <a:txBody>
                    <a:bodyPr/>
                    <a:lstStyle/>
                    <a:p>
                      <a:r>
                        <a:rPr sz="1650" b="0">
                          <a:solidFill>
                            <a:srgbClr val="242424"/>
                          </a:solidFill>
                          <a:latin typeface="Aptos"/>
                          <a:ea typeface="Aptos"/>
                          <a:cs typeface="Aptos"/>
                        </a:rPr>
                        <a:t>1,000</a:t>
                      </a:r>
                    </a:p>
                  </a:txBody>
                  <a:tcPr marL="91440" marR="91440" marT="45720" marB="45720">
                    <a:solidFill>
                      <a:srgbClr val="F8F5F0"/>
                    </a:solidFill>
                  </a:tcPr>
                </a:tc>
              </a:tr>
            </a:tbl>
          </a:graphicData>
        </a:graphic>
      </p:graphicFrame>
    </p:spTree>
    <p:extLst>
      <p:ext uri="{BB962C8B-B14F-4D97-AF65-F5344CB8AC3E}">
        <p14:creationId xmlns:p14="http://schemas.microsoft.com/office/powerpoint/2010/main" val="457841568"/>
      </p:ext>
    </p:extLst>
  </p:cSld>
</p:sld>
</file>

<file path=ppt/slides/slide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6A3A1AD-D29E-4910-88C2-12AA85AE7B1A}"/>
              </a:ext>
            </a:extLst>
          </p:cNvPr>
          <p:cNvSpPr>
            <a:spLocks xmlns:a="http://schemas.openxmlformats.org/drawingml/2006/main" noGrp="1"/>
          </p:cNvSpPr>
          <p:nvPr/>
        </p:nvSpPr>
        <p:spPr>
          <a:xfrm xmlns:a="http://schemas.openxmlformats.org/drawingml/2006/main">
            <a:off x="11239500" y="4286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D94750"/>
                </a:solidFill>
                <a:latin typeface="Aptos"/>
                <a:ea typeface="Aptos"/>
                <a:cs typeface="Aptos"/>
              </a:defRPr>
            </a:pPr>
            <a:r>
              <a:rPr sz="1275" b="1">
                <a:solidFill>
                  <a:srgbClr val="D94750"/>
                </a:solidFill>
                <a:latin typeface="Aptos"/>
                <a:ea typeface="Aptos"/>
                <a:cs typeface="Aptos"/>
              </a:rPr>
              <a:t>06</a:t>
            </a:r>
          </a:p>
        </p:txBody>
      </p:sp>
      <p:sp>
        <p:nvSpPr>
          <p:cNvPr id="2" name="">
            <a:extLst xmlns:a="http://schemas.openxmlformats.org/drawingml/2006/main">
              <a:ext uri="{FF2B5EF4-FFF2-40B4-BE49-F238E27FC236}">
                <a16:creationId xmlns:a16="http://schemas.microsoft.com/office/drawing/2014/main" id="{EBABBAFC-C737-4037-9885-40A0409DE71E}"/>
              </a:ext>
            </a:extLst>
          </p:cNvPr>
          <p:cNvSpPr>
            <a:spLocks xmlns:a="http://schemas.openxmlformats.org/drawingml/2006/main" noGrp="1"/>
          </p:cNvSpPr>
          <p:nvPr/>
        </p:nvSpPr>
        <p:spPr>
          <a:xfrm xmlns:a="http://schemas.openxmlformats.org/drawingml/2006/main">
            <a:off x="609600" y="5238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A Long-stay brief before the guest commits</a:t>
            </a:r>
          </a:p>
        </p:txBody>
      </p:sp>
      <p:sp>
        <p:nvSpPr>
          <p:cNvPr id="3" name="">
            <a:extLst xmlns:a="http://schemas.openxmlformats.org/drawingml/2006/main">
              <a:ext uri="{FF2B5EF4-FFF2-40B4-BE49-F238E27FC236}">
                <a16:creationId xmlns:a16="http://schemas.microsoft.com/office/drawing/2014/main" id="{45174DE4-4CF9-470A-AB15-56C2808090FE}"/>
              </a:ext>
            </a:extLst>
          </p:cNvPr>
          <p:cNvSpPr>
            <a:spLocks xmlns:a="http://schemas.openxmlformats.org/drawingml/2006/main" noGrp="1"/>
          </p:cNvSpPr>
          <p:nvPr/>
        </p:nvSpPr>
        <p:spPr>
          <a:xfrm xmlns:a="http://schemas.openxmlformats.org/drawingml/2006/main">
            <a:off x="628650" y="16097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6E6963"/>
                </a:solidFill>
                <a:latin typeface="Aptos"/>
                <a:ea typeface="Aptos"/>
                <a:cs typeface="Aptos"/>
              </a:defRPr>
            </a:pPr>
            <a:r>
              <a:rPr sz="1575" b="0">
                <a:solidFill>
                  <a:srgbClr val="6E6963"/>
                </a:solidFill>
                <a:latin typeface="Aptos"/>
                <a:ea typeface="Aptos"/>
                <a:cs typeface="Aptos"/>
              </a:rPr>
              <a:t>Proposed interface concept. All property details, prices and dates are illustrative</a:t>
            </a:r>
          </a:p>
        </p:txBody>
      </p:sp>
      <p:sp>
        <p:nvSpPr>
          <p:cNvPr id="4" name="">
            <a:extLst xmlns:a="http://schemas.openxmlformats.org/drawingml/2006/main">
              <a:ext uri="{FF2B5EF4-FFF2-40B4-BE49-F238E27FC236}">
                <a16:creationId xmlns:a16="http://schemas.microsoft.com/office/drawing/2014/main" id="{2FBC6716-AD85-4245-997F-185F88DDDABA}"/>
              </a:ext>
            </a:extLst>
          </p:cNvPr>
          <p:cNvSpPr>
            <a:spLocks xmlns:a="http://schemas.openxmlformats.org/drawingml/2006/main" noGrp="1"/>
          </p:cNvSpPr>
          <p:nvPr/>
        </p:nvSpPr>
        <p:spPr>
          <a:xfrm xmlns:a="http://schemas.openxmlformats.org/drawingml/2006/main">
            <a:off x="628650" y="6467475"/>
            <a:ext cx="971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6E6963"/>
                </a:solidFill>
                <a:latin typeface="Aptos"/>
                <a:ea typeface="Aptos"/>
                <a:cs typeface="Aptos"/>
              </a:defRPr>
            </a:pPr>
            <a:r>
              <a:rPr sz="900" b="0">
                <a:solidFill>
                  <a:srgbClr val="6E6963"/>
                </a:solidFill>
                <a:latin typeface="Aptos"/>
                <a:ea typeface="Aptos"/>
                <a:cs typeface="Aptos"/>
              </a:rPr>
              <a:t>Independent product case study. Not affiliated with Airbnb.</a:t>
            </a:r>
          </a:p>
        </p:txBody>
      </p:sp>
      <p:sp>
        <p:nvSpPr>
          <p:cNvPr id="5" name="">
            <a:extLst xmlns:a="http://schemas.openxmlformats.org/drawingml/2006/main">
              <a:ext uri="{FF2B5EF4-FFF2-40B4-BE49-F238E27FC236}">
                <a16:creationId xmlns:a16="http://schemas.microsoft.com/office/drawing/2014/main" id="{B624AC21-36E2-47F0-B2C2-A805FC4573D2}"/>
              </a:ext>
            </a:extLst>
          </p:cNvPr>
          <p:cNvSpPr>
            <a:spLocks xmlns:a="http://schemas.openxmlformats.org/drawingml/2006/main" noGrp="1"/>
          </p:cNvSpPr>
          <p:nvPr/>
        </p:nvSpPr>
        <p:spPr>
          <a:xfrm xmlns:a="http://schemas.openxmlformats.org/drawingml/2006/main">
            <a:off x="619125" y="2324100"/>
            <a:ext cx="10953750" cy="3695700"/>
          </a:xfrm>
          <a:prstGeom xmlns:a="http://schemas.openxmlformats.org/drawingml/2006/main" prst="roundRect">
            <a:avLst>
              <a:gd name="adj" fmla="val 4639"/>
            </a:avLst>
          </a:prstGeom>
          <a:solidFill xmlns:a="http://schemas.openxmlformats.org/drawingml/2006/main">
            <a:srgbClr val="FFFFFF"/>
          </a:solidFill>
          <a:ln xmlns:a="http://schemas.openxmlformats.org/drawingml/2006/main" w="9525">
            <a:solidFill>
              <a:srgbClr val="DED7D0"/>
            </a:solidFill>
          </a:ln>
        </p:spPr>
      </p:sp>
      <p:sp>
        <p:nvSpPr>
          <p:cNvPr id="6" name="">
            <a:extLst xmlns:a="http://schemas.openxmlformats.org/drawingml/2006/main">
              <a:ext uri="{FF2B5EF4-FFF2-40B4-BE49-F238E27FC236}">
                <a16:creationId xmlns:a16="http://schemas.microsoft.com/office/drawing/2014/main" id="{35600D12-4972-4A96-92BE-FA44CDE3BFF8}"/>
              </a:ext>
            </a:extLst>
          </p:cNvPr>
          <p:cNvSpPr>
            <a:spLocks xmlns:a="http://schemas.openxmlformats.org/drawingml/2006/main" noGrp="1"/>
          </p:cNvSpPr>
          <p:nvPr/>
        </p:nvSpPr>
        <p:spPr>
          <a:xfrm xmlns:a="http://schemas.openxmlformats.org/drawingml/2006/main">
            <a:off x="838200" y="2466975"/>
            <a:ext cx="571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242424"/>
                </a:solidFill>
                <a:latin typeface="Aptos"/>
                <a:ea typeface="Aptos"/>
                <a:cs typeface="Aptos"/>
              </a:defRPr>
            </a:pPr>
            <a:r>
              <a:rPr sz="2325" b="1">
                <a:solidFill>
                  <a:srgbClr val="242424"/>
                </a:solidFill>
                <a:latin typeface="Aptos"/>
                <a:ea typeface="Aptos"/>
                <a:cs typeface="Aptos"/>
              </a:rPr>
              <a:t>Long-stay brief</a:t>
            </a:r>
          </a:p>
        </p:txBody>
      </p:sp>
      <p:sp>
        <p:nvSpPr>
          <p:cNvPr id="7" name="">
            <a:extLst xmlns:a="http://schemas.openxmlformats.org/drawingml/2006/main">
              <a:ext uri="{FF2B5EF4-FFF2-40B4-BE49-F238E27FC236}">
                <a16:creationId xmlns:a16="http://schemas.microsoft.com/office/drawing/2014/main" id="{3B72F69D-3657-4934-876A-63607D892729}"/>
              </a:ext>
            </a:extLst>
          </p:cNvPr>
          <p:cNvSpPr>
            <a:spLocks xmlns:a="http://schemas.openxmlformats.org/drawingml/2006/main" noGrp="1"/>
          </p:cNvSpPr>
          <p:nvPr/>
        </p:nvSpPr>
        <p:spPr>
          <a:xfrm xmlns:a="http://schemas.openxmlformats.org/drawingml/2006/main">
            <a:off x="857250" y="2933700"/>
            <a:ext cx="962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6E6963"/>
                </a:solidFill>
                <a:latin typeface="Aptos"/>
                <a:ea typeface="Aptos"/>
                <a:cs typeface="Aptos"/>
              </a:defRPr>
            </a:pPr>
            <a:r>
              <a:rPr sz="1500" b="0">
                <a:solidFill>
                  <a:srgbClr val="6E6963"/>
                </a:solidFill>
                <a:latin typeface="Aptos"/>
                <a:ea typeface="Aptos"/>
                <a:cs typeface="Aptos"/>
              </a:rPr>
              <a:t>Oct 1–Nov 30, 2026 · Entire home · 60 nights</a:t>
            </a:r>
          </a:p>
        </p:txBody>
      </p:sp>
      <p:sp>
        <p:nvSpPr>
          <p:cNvPr id="8" name="">
            <a:extLst xmlns:a="http://schemas.openxmlformats.org/drawingml/2006/main">
              <a:ext uri="{FF2B5EF4-FFF2-40B4-BE49-F238E27FC236}">
                <a16:creationId xmlns:a16="http://schemas.microsoft.com/office/drawing/2014/main" id="{C923027D-E71E-42D4-BD68-8DF6BD4477F9}"/>
              </a:ext>
            </a:extLst>
          </p:cNvPr>
          <p:cNvSpPr>
            <a:spLocks xmlns:a="http://schemas.openxmlformats.org/drawingml/2006/main" noGrp="1"/>
          </p:cNvSpPr>
          <p:nvPr/>
        </p:nvSpPr>
        <p:spPr>
          <a:xfrm xmlns:a="http://schemas.openxmlformats.org/drawingml/2006/main">
            <a:off x="857250" y="3438525"/>
            <a:ext cx="4667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242424"/>
                </a:solidFill>
                <a:latin typeface="Aptos"/>
                <a:ea typeface="Aptos"/>
                <a:cs typeface="Aptos"/>
              </a:defRPr>
            </a:pPr>
            <a:r>
              <a:rPr sz="1875" b="1">
                <a:solidFill>
                  <a:srgbClr val="242424"/>
                </a:solidFill>
                <a:latin typeface="Aptos"/>
                <a:ea typeface="Aptos"/>
                <a:cs typeface="Aptos"/>
              </a:rPr>
              <a:t>Work setup</a:t>
            </a:r>
          </a:p>
        </p:txBody>
      </p:sp>
      <p:sp>
        <p:nvSpPr>
          <p:cNvPr id="9" name="">
            <a:extLst xmlns:a="http://schemas.openxmlformats.org/drawingml/2006/main">
              <a:ext uri="{FF2B5EF4-FFF2-40B4-BE49-F238E27FC236}">
                <a16:creationId xmlns:a16="http://schemas.microsoft.com/office/drawing/2014/main" id="{03151C40-23A0-4259-99B9-E26B2506280A}"/>
              </a:ext>
            </a:extLst>
          </p:cNvPr>
          <p:cNvSpPr>
            <a:spLocks xmlns:a="http://schemas.openxmlformats.org/drawingml/2006/main" noGrp="1"/>
          </p:cNvSpPr>
          <p:nvPr/>
        </p:nvSpPr>
        <p:spPr>
          <a:xfrm xmlns:a="http://schemas.openxmlformats.org/drawingml/2006/main">
            <a:off x="857250" y="3905250"/>
            <a:ext cx="1762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242424"/>
                </a:solidFill>
                <a:latin typeface="Aptos"/>
                <a:ea typeface="Aptos"/>
                <a:cs typeface="Aptos"/>
              </a:defRPr>
            </a:pPr>
            <a:r>
              <a:rPr sz="1650" b="1">
                <a:solidFill>
                  <a:srgbClr val="242424"/>
                </a:solidFill>
                <a:latin typeface="Aptos"/>
                <a:ea typeface="Aptos"/>
                <a:cs typeface="Aptos"/>
              </a:rPr>
              <a:t>Desk + chair</a:t>
            </a:r>
          </a:p>
        </p:txBody>
      </p:sp>
      <p:sp>
        <p:nvSpPr>
          <p:cNvPr id="10" name="">
            <a:extLst xmlns:a="http://schemas.openxmlformats.org/drawingml/2006/main">
              <a:ext uri="{FF2B5EF4-FFF2-40B4-BE49-F238E27FC236}">
                <a16:creationId xmlns:a16="http://schemas.microsoft.com/office/drawing/2014/main" id="{4572FCF1-08D2-4CCA-A81C-AA69F174C84E}"/>
              </a:ext>
            </a:extLst>
          </p:cNvPr>
          <p:cNvSpPr>
            <a:spLocks xmlns:a="http://schemas.openxmlformats.org/drawingml/2006/main" noGrp="1"/>
          </p:cNvSpPr>
          <p:nvPr/>
        </p:nvSpPr>
        <p:spPr>
          <a:xfrm xmlns:a="http://schemas.openxmlformats.org/drawingml/2006/main">
            <a:off x="2647950" y="3905250"/>
            <a:ext cx="333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2424"/>
                </a:solidFill>
                <a:latin typeface="Aptos"/>
                <a:ea typeface="Aptos"/>
                <a:cs typeface="Aptos"/>
              </a:defRPr>
            </a:pPr>
            <a:r>
              <a:rPr sz="1575" b="0">
                <a:solidFill>
                  <a:srgbClr val="242424"/>
                </a:solidFill>
                <a:latin typeface="Aptos"/>
                <a:ea typeface="Aptos"/>
                <a:cs typeface="Aptos"/>
              </a:rPr>
              <a:t>Host photos and dimensions</a:t>
            </a:r>
          </a:p>
        </p:txBody>
      </p:sp>
      <p:sp>
        <p:nvSpPr>
          <p:cNvPr id="11" name="">
            <a:extLst xmlns:a="http://schemas.openxmlformats.org/drawingml/2006/main">
              <a:ext uri="{FF2B5EF4-FFF2-40B4-BE49-F238E27FC236}">
                <a16:creationId xmlns:a16="http://schemas.microsoft.com/office/drawing/2014/main" id="{E410549A-AB2E-4520-B6CD-8B88D1CDC5E7}"/>
              </a:ext>
            </a:extLst>
          </p:cNvPr>
          <p:cNvSpPr>
            <a:spLocks xmlns:a="http://schemas.openxmlformats.org/drawingml/2006/main" noGrp="1"/>
          </p:cNvSpPr>
          <p:nvPr/>
        </p:nvSpPr>
        <p:spPr>
          <a:xfrm xmlns:a="http://schemas.openxmlformats.org/drawingml/2006/main">
            <a:off x="857250" y="4295775"/>
            <a:ext cx="1762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242424"/>
                </a:solidFill>
                <a:latin typeface="Aptos"/>
                <a:ea typeface="Aptos"/>
                <a:cs typeface="Aptos"/>
              </a:defRPr>
            </a:pPr>
            <a:r>
              <a:rPr sz="1650" b="1">
                <a:solidFill>
                  <a:srgbClr val="242424"/>
                </a:solidFill>
                <a:latin typeface="Aptos"/>
                <a:ea typeface="Aptos"/>
                <a:cs typeface="Aptos"/>
              </a:rPr>
              <a:t>Wifi: 85 Mbps</a:t>
            </a:r>
          </a:p>
        </p:txBody>
      </p:sp>
      <p:sp>
        <p:nvSpPr>
          <p:cNvPr id="12" name="">
            <a:extLst xmlns:a="http://schemas.openxmlformats.org/drawingml/2006/main">
              <a:ext uri="{FF2B5EF4-FFF2-40B4-BE49-F238E27FC236}">
                <a16:creationId xmlns:a16="http://schemas.microsoft.com/office/drawing/2014/main" id="{05C1E8A8-60FA-4C5B-8C1E-BD6454C9004E}"/>
              </a:ext>
            </a:extLst>
          </p:cNvPr>
          <p:cNvSpPr>
            <a:spLocks xmlns:a="http://schemas.openxmlformats.org/drawingml/2006/main" noGrp="1"/>
          </p:cNvSpPr>
          <p:nvPr/>
        </p:nvSpPr>
        <p:spPr>
          <a:xfrm xmlns:a="http://schemas.openxmlformats.org/drawingml/2006/main">
            <a:off x="2647950" y="4295775"/>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2424"/>
                </a:solidFill>
                <a:latin typeface="Aptos"/>
                <a:ea typeface="Aptos"/>
                <a:cs typeface="Aptos"/>
              </a:defRPr>
            </a:pPr>
            <a:r>
              <a:rPr sz="1575" b="0">
                <a:solidFill>
                  <a:srgbClr val="242424"/>
                </a:solidFill>
                <a:latin typeface="Aptos"/>
                <a:ea typeface="Aptos"/>
                <a:cs typeface="Aptos"/>
              </a:rPr>
              <a:t>Download · tested Sep 8</a:t>
            </a:r>
          </a:p>
        </p:txBody>
      </p:sp>
      <p:sp>
        <p:nvSpPr>
          <p:cNvPr id="13" name="">
            <a:extLst xmlns:a="http://schemas.openxmlformats.org/drawingml/2006/main">
              <a:ext uri="{FF2B5EF4-FFF2-40B4-BE49-F238E27FC236}">
                <a16:creationId xmlns:a16="http://schemas.microsoft.com/office/drawing/2014/main" id="{39BF4D7E-71C5-4AB8-B6F0-314D39C565F0}"/>
              </a:ext>
            </a:extLst>
          </p:cNvPr>
          <p:cNvSpPr>
            <a:spLocks xmlns:a="http://schemas.openxmlformats.org/drawingml/2006/main" noGrp="1"/>
          </p:cNvSpPr>
          <p:nvPr/>
        </p:nvSpPr>
        <p:spPr>
          <a:xfrm xmlns:a="http://schemas.openxmlformats.org/drawingml/2006/main">
            <a:off x="857250" y="4686300"/>
            <a:ext cx="1762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242424"/>
                </a:solidFill>
                <a:latin typeface="Aptos"/>
                <a:ea typeface="Aptos"/>
                <a:cs typeface="Aptos"/>
              </a:defRPr>
            </a:pPr>
            <a:r>
              <a:rPr sz="1650" b="1">
                <a:solidFill>
                  <a:srgbClr val="242424"/>
                </a:solidFill>
                <a:latin typeface="Aptos"/>
                <a:ea typeface="Aptos"/>
                <a:cs typeface="Aptos"/>
              </a:rPr>
              <a:t>Noise</a:t>
            </a:r>
          </a:p>
        </p:txBody>
      </p:sp>
      <p:sp>
        <p:nvSpPr>
          <p:cNvPr id="14" name="">
            <a:extLst xmlns:a="http://schemas.openxmlformats.org/drawingml/2006/main">
              <a:ext uri="{FF2B5EF4-FFF2-40B4-BE49-F238E27FC236}">
                <a16:creationId xmlns:a16="http://schemas.microsoft.com/office/drawing/2014/main" id="{477F0F79-953D-4926-9C0F-111BC5FE18F4}"/>
              </a:ext>
            </a:extLst>
          </p:cNvPr>
          <p:cNvSpPr>
            <a:spLocks xmlns:a="http://schemas.openxmlformats.org/drawingml/2006/main" noGrp="1"/>
          </p:cNvSpPr>
          <p:nvPr/>
        </p:nvSpPr>
        <p:spPr>
          <a:xfrm xmlns:a="http://schemas.openxmlformats.org/drawingml/2006/main">
            <a:off x="2647950" y="4686300"/>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2424"/>
                </a:solidFill>
                <a:latin typeface="Aptos"/>
                <a:ea typeface="Aptos"/>
                <a:cs typeface="Aptos"/>
              </a:defRPr>
            </a:pPr>
            <a:r>
              <a:rPr sz="1575" b="0">
                <a:solidFill>
                  <a:srgbClr val="242424"/>
                </a:solidFill>
                <a:latin typeface="Aptos"/>
                <a:ea typeface="Aptos"/>
                <a:cs typeface="Aptos"/>
              </a:rPr>
              <a:t>Street noise · host declared</a:t>
            </a:r>
          </a:p>
        </p:txBody>
      </p:sp>
      <p:sp>
        <p:nvSpPr>
          <p:cNvPr id="15" name="">
            <a:extLst xmlns:a="http://schemas.openxmlformats.org/drawingml/2006/main">
              <a:ext uri="{FF2B5EF4-FFF2-40B4-BE49-F238E27FC236}">
                <a16:creationId xmlns:a16="http://schemas.microsoft.com/office/drawing/2014/main" id="{79AEE03E-E4D2-4856-8976-7838C4C56095}"/>
              </a:ext>
            </a:extLst>
          </p:cNvPr>
          <p:cNvSpPr>
            <a:spLocks xmlns:a="http://schemas.openxmlformats.org/drawingml/2006/main" noGrp="1"/>
          </p:cNvSpPr>
          <p:nvPr/>
        </p:nvSpPr>
        <p:spPr>
          <a:xfrm xmlns:a="http://schemas.openxmlformats.org/drawingml/2006/main">
            <a:off x="857250" y="5076825"/>
            <a:ext cx="1762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242424"/>
                </a:solidFill>
                <a:latin typeface="Aptos"/>
                <a:ea typeface="Aptos"/>
                <a:cs typeface="Aptos"/>
              </a:defRPr>
            </a:pPr>
            <a:r>
              <a:rPr sz="1650" b="1">
                <a:solidFill>
                  <a:srgbClr val="242424"/>
                </a:solidFill>
                <a:latin typeface="Aptos"/>
                <a:ea typeface="Aptos"/>
                <a:cs typeface="Aptos"/>
              </a:rPr>
              <a:t>Utilities</a:t>
            </a:r>
          </a:p>
        </p:txBody>
      </p:sp>
      <p:sp>
        <p:nvSpPr>
          <p:cNvPr id="16" name="">
            <a:extLst xmlns:a="http://schemas.openxmlformats.org/drawingml/2006/main">
              <a:ext uri="{FF2B5EF4-FFF2-40B4-BE49-F238E27FC236}">
                <a16:creationId xmlns:a16="http://schemas.microsoft.com/office/drawing/2014/main" id="{C1483D20-279F-4815-8B80-48B7587C9FD5}"/>
              </a:ext>
            </a:extLst>
          </p:cNvPr>
          <p:cNvSpPr>
            <a:spLocks xmlns:a="http://schemas.openxmlformats.org/drawingml/2006/main" noGrp="1"/>
          </p:cNvSpPr>
          <p:nvPr/>
        </p:nvSpPr>
        <p:spPr>
          <a:xfrm xmlns:a="http://schemas.openxmlformats.org/drawingml/2006/main">
            <a:off x="2647950" y="5076825"/>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2424"/>
                </a:solidFill>
                <a:latin typeface="Aptos"/>
                <a:ea typeface="Aptos"/>
                <a:cs typeface="Aptos"/>
              </a:defRPr>
            </a:pPr>
            <a:r>
              <a:rPr sz="1575" b="0">
                <a:solidFill>
                  <a:srgbClr val="242424"/>
                </a:solidFill>
                <a:latin typeface="Aptos"/>
                <a:ea typeface="Aptos"/>
                <a:cs typeface="Aptos"/>
              </a:rPr>
              <a:t>Host confirms inclusions / caps</a:t>
            </a:r>
          </a:p>
        </p:txBody>
      </p:sp>
      <p:sp>
        <p:nvSpPr>
          <p:cNvPr id="17" name="">
            <a:extLst xmlns:a="http://schemas.openxmlformats.org/drawingml/2006/main">
              <a:ext uri="{FF2B5EF4-FFF2-40B4-BE49-F238E27FC236}">
                <a16:creationId xmlns:a16="http://schemas.microsoft.com/office/drawing/2014/main" id="{42D48CAF-459A-4D22-A73C-D26627CCE921}"/>
              </a:ext>
            </a:extLst>
          </p:cNvPr>
          <p:cNvSpPr>
            <a:spLocks xmlns:a="http://schemas.openxmlformats.org/drawingml/2006/main" noGrp="1"/>
          </p:cNvSpPr>
          <p:nvPr/>
        </p:nvSpPr>
        <p:spPr>
          <a:xfrm xmlns:a="http://schemas.openxmlformats.org/drawingml/2006/main">
            <a:off x="857250" y="5572125"/>
            <a:ext cx="4810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6E6963"/>
                </a:solidFill>
                <a:latin typeface="Aptos"/>
                <a:ea typeface="Aptos"/>
                <a:cs typeface="Aptos"/>
              </a:defRPr>
            </a:pPr>
            <a:r>
              <a:rPr sz="1275" b="0">
                <a:solidFill>
                  <a:srgbClr val="6E6963"/>
                </a:solidFill>
                <a:latin typeface="Aptos"/>
                <a:ea typeface="Aptos"/>
                <a:cs typeface="Aptos"/>
              </a:rPr>
              <a:t>Test results vary. View evidence and limitations.</a:t>
            </a:r>
          </a:p>
        </p:txBody>
      </p:sp>
      <p:sp>
        <p:nvSpPr>
          <p:cNvPr id="18" name="">
            <a:extLst xmlns:a="http://schemas.openxmlformats.org/drawingml/2006/main">
              <a:ext uri="{FF2B5EF4-FFF2-40B4-BE49-F238E27FC236}">
                <a16:creationId xmlns:a16="http://schemas.microsoft.com/office/drawing/2014/main" id="{02044CC0-FD09-4A05-A6A2-F6CE3F834062}"/>
              </a:ext>
            </a:extLst>
          </p:cNvPr>
          <p:cNvSpPr>
            <a:spLocks xmlns:a="http://schemas.openxmlformats.org/drawingml/2006/main" noGrp="1"/>
          </p:cNvSpPr>
          <p:nvPr/>
        </p:nvSpPr>
        <p:spPr>
          <a:xfrm xmlns:a="http://schemas.openxmlformats.org/drawingml/2006/main">
            <a:off x="6838950" y="34194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242424"/>
                </a:solidFill>
                <a:latin typeface="Aptos"/>
                <a:ea typeface="Aptos"/>
                <a:cs typeface="Aptos"/>
              </a:defRPr>
            </a:pPr>
            <a:r>
              <a:rPr sz="2325" b="1">
                <a:solidFill>
                  <a:srgbClr val="242424"/>
                </a:solidFill>
                <a:latin typeface="Aptos"/>
                <a:ea typeface="Aptos"/>
                <a:cs typeface="Aptos"/>
              </a:rPr>
              <a:t>US$4,200 total</a:t>
            </a:r>
          </a:p>
        </p:txBody>
      </p:sp>
      <p:sp>
        <p:nvSpPr>
          <p:cNvPr id="19" name="">
            <a:extLst xmlns:a="http://schemas.openxmlformats.org/drawingml/2006/main">
              <a:ext uri="{FF2B5EF4-FFF2-40B4-BE49-F238E27FC236}">
                <a16:creationId xmlns:a16="http://schemas.microsoft.com/office/drawing/2014/main" id="{B206748A-876A-4B39-935F-ED32A51668DD}"/>
              </a:ext>
            </a:extLst>
          </p:cNvPr>
          <p:cNvSpPr>
            <a:spLocks xmlns:a="http://schemas.openxmlformats.org/drawingml/2006/main" noGrp="1"/>
          </p:cNvSpPr>
          <p:nvPr/>
        </p:nvSpPr>
        <p:spPr>
          <a:xfrm xmlns:a="http://schemas.openxmlformats.org/drawingml/2006/main">
            <a:off x="6858000" y="3962400"/>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2424"/>
                </a:solidFill>
                <a:latin typeface="Aptos"/>
                <a:ea typeface="Aptos"/>
                <a:cs typeface="Aptos"/>
              </a:defRPr>
            </a:pPr>
            <a:r>
              <a:rPr sz="1575" b="0">
                <a:solidFill>
                  <a:srgbClr val="242424"/>
                </a:solidFill>
                <a:latin typeface="Aptos"/>
                <a:ea typeface="Aptos"/>
                <a:cs typeface="Aptos"/>
              </a:rPr>
              <a:t>At booking                            US$2,100</a:t>
            </a:r>
          </a:p>
          <a:p xmlns:a="http://schemas.openxmlformats.org/drawingml/2006/main">
            <a:pPr>
              <a:defRPr sz="1575" b="0">
                <a:solidFill>
                  <a:srgbClr val="242424"/>
                </a:solidFill>
                <a:latin typeface="Aptos"/>
                <a:ea typeface="Aptos"/>
                <a:cs typeface="Aptos"/>
              </a:defRPr>
            </a:pPr>
            <a:r>
              <a:rPr sz="1575" b="0">
                <a:solidFill>
                  <a:srgbClr val="242424"/>
                </a:solidFill>
                <a:latin typeface="Aptos"/>
                <a:ea typeface="Aptos"/>
                <a:cs typeface="Aptos"/>
              </a:rPr>
              <a:t>Oct 21 · next 30 nights          US$2,100</a:t>
            </a:r>
          </a:p>
        </p:txBody>
      </p:sp>
      <p:sp>
        <p:nvSpPr>
          <p:cNvPr id="20" name="">
            <a:extLst xmlns:a="http://schemas.openxmlformats.org/drawingml/2006/main">
              <a:ext uri="{FF2B5EF4-FFF2-40B4-BE49-F238E27FC236}">
                <a16:creationId xmlns:a16="http://schemas.microsoft.com/office/drawing/2014/main" id="{2ED7E118-F564-40FE-8B9E-98512657C912}"/>
              </a:ext>
            </a:extLst>
          </p:cNvPr>
          <p:cNvSpPr>
            <a:spLocks xmlns:a="http://schemas.openxmlformats.org/drawingml/2006/main" noGrp="1"/>
          </p:cNvSpPr>
          <p:nvPr/>
        </p:nvSpPr>
        <p:spPr>
          <a:xfrm xmlns:a="http://schemas.openxmlformats.org/drawingml/2006/main">
            <a:off x="6819900" y="4857750"/>
            <a:ext cx="4457700" cy="866775"/>
          </a:xfrm>
          <a:prstGeom xmlns:a="http://schemas.openxmlformats.org/drawingml/2006/main" prst="roundRect">
            <a:avLst>
              <a:gd name="adj" fmla="val 19780"/>
            </a:avLst>
          </a:prstGeom>
          <a:solidFill xmlns:a="http://schemas.openxmlformats.org/drawingml/2006/main">
            <a:srgbClr val="F3E4DE"/>
          </a:solidFill>
          <a:ln xmlns:a="http://schemas.openxmlformats.org/drawingml/2006/main" w="9525">
            <a:solidFill>
              <a:srgbClr val="DED7D0"/>
            </a:solidFill>
          </a:ln>
        </p:spPr>
      </p:sp>
      <p:sp>
        <p:nvSpPr>
          <p:cNvPr id="21" name="">
            <a:extLst xmlns:a="http://schemas.openxmlformats.org/drawingml/2006/main">
              <a:ext uri="{FF2B5EF4-FFF2-40B4-BE49-F238E27FC236}">
                <a16:creationId xmlns:a16="http://schemas.microsoft.com/office/drawing/2014/main" id="{78076DB5-9D39-4EC3-9A5F-4C70BBE87A11}"/>
              </a:ext>
            </a:extLst>
          </p:cNvPr>
          <p:cNvSpPr>
            <a:spLocks xmlns:a="http://schemas.openxmlformats.org/drawingml/2006/main" noGrp="1"/>
          </p:cNvSpPr>
          <p:nvPr/>
        </p:nvSpPr>
        <p:spPr>
          <a:xfrm xmlns:a="http://schemas.openxmlformats.org/drawingml/2006/main">
            <a:off x="6972300" y="4943475"/>
            <a:ext cx="414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1">
                <a:solidFill>
                  <a:srgbClr val="D94750"/>
                </a:solidFill>
                <a:latin typeface="Aptos"/>
                <a:ea typeface="Aptos"/>
                <a:cs typeface="Aptos"/>
              </a:defRPr>
            </a:pPr>
            <a:r>
              <a:rPr sz="1575" b="1">
                <a:solidFill>
                  <a:srgbClr val="D94750"/>
                </a:solidFill>
                <a:latin typeface="Aptos"/>
                <a:ea typeface="Aptos"/>
                <a:cs typeface="Aptos"/>
              </a:rPr>
              <a:t>If your plans change</a:t>
            </a:r>
          </a:p>
        </p:txBody>
      </p:sp>
      <p:sp>
        <p:nvSpPr>
          <p:cNvPr id="22" name="">
            <a:extLst xmlns:a="http://schemas.openxmlformats.org/drawingml/2006/main">
              <a:ext uri="{FF2B5EF4-FFF2-40B4-BE49-F238E27FC236}">
                <a16:creationId xmlns:a16="http://schemas.microsoft.com/office/drawing/2014/main" id="{C9882C29-9EFF-4187-9C84-EC04A21FF722}"/>
              </a:ext>
            </a:extLst>
          </p:cNvPr>
          <p:cNvSpPr>
            <a:spLocks xmlns:a="http://schemas.openxmlformats.org/drawingml/2006/main" noGrp="1"/>
          </p:cNvSpPr>
          <p:nvPr/>
        </p:nvSpPr>
        <p:spPr>
          <a:xfrm xmlns:a="http://schemas.openxmlformats.org/drawingml/2006/main">
            <a:off x="6972300" y="5286375"/>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242424"/>
                </a:solidFill>
                <a:latin typeface="Aptos"/>
                <a:ea typeface="Aptos"/>
                <a:cs typeface="Aptos"/>
              </a:defRPr>
            </a:pPr>
            <a:r>
              <a:rPr sz="1425" b="0">
                <a:solidFill>
                  <a:srgbClr val="242424"/>
                </a:solidFill>
                <a:latin typeface="Aptos"/>
                <a:ea typeface="Aptos"/>
                <a:cs typeface="Aptos"/>
              </a:rPr>
              <a:t>Choose a date to see refund + amount owed</a:t>
            </a:r>
          </a:p>
        </p:txBody>
      </p:sp>
      <p:sp>
        <p:nvSpPr>
          <p:cNvPr id="23" name="">
            <a:extLst xmlns:a="http://schemas.openxmlformats.org/drawingml/2006/main">
              <a:ext uri="{FF2B5EF4-FFF2-40B4-BE49-F238E27FC236}">
                <a16:creationId xmlns:a16="http://schemas.microsoft.com/office/drawing/2014/main" id="{43DD4B4D-5B60-4B0F-B831-F119D333040C}"/>
              </a:ext>
            </a:extLst>
          </p:cNvPr>
          <p:cNvSpPr>
            <a:spLocks xmlns:a="http://schemas.openxmlformats.org/drawingml/2006/main" noGrp="1"/>
          </p:cNvSpPr>
          <p:nvPr/>
        </p:nvSpPr>
        <p:spPr>
          <a:xfrm xmlns:a="http://schemas.openxmlformats.org/drawingml/2006/main">
            <a:off x="638175" y="6096000"/>
            <a:ext cx="1071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E6963"/>
                </a:solidFill>
                <a:latin typeface="Aptos"/>
                <a:ea typeface="Aptos"/>
                <a:cs typeface="Aptos"/>
              </a:defRPr>
            </a:pPr>
            <a:r>
              <a:rPr sz="1200" b="0">
                <a:solidFill>
                  <a:srgbClr val="6E6963"/>
                </a:solidFill>
                <a:latin typeface="Aptos"/>
                <a:ea typeface="Aptos"/>
                <a:cs typeface="Aptos"/>
              </a:rPr>
              <a:t>Collected taxes and fees included. Required agreements and disclosed extras appear before booking.</a:t>
            </a:r>
          </a:p>
        </p:txBody>
      </p:sp>
    </p:spTree>
    <p:extLst>
      <p:ext uri="{BB962C8B-B14F-4D97-AF65-F5344CB8AC3E}">
        <p14:creationId xmlns:p14="http://schemas.microsoft.com/office/powerpoint/2010/main" val="759515544"/>
      </p:ext>
    </p:extLst>
  </p:cSld>
</p:sld>
</file>

<file path=ppt/slides/slide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1CC857-CE45-4A8B-86F8-50CE2882C166}"/>
              </a:ext>
            </a:extLst>
          </p:cNvPr>
          <p:cNvSpPr>
            <a:spLocks xmlns:a="http://schemas.openxmlformats.org/drawingml/2006/main" noGrp="1"/>
          </p:cNvSpPr>
          <p:nvPr/>
        </p:nvSpPr>
        <p:spPr>
          <a:xfrm xmlns:a="http://schemas.openxmlformats.org/drawingml/2006/main">
            <a:off x="11239500" y="4286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D94750"/>
                </a:solidFill>
                <a:latin typeface="Aptos"/>
                <a:ea typeface="Aptos"/>
                <a:cs typeface="Aptos"/>
              </a:defRPr>
            </a:pPr>
            <a:r>
              <a:rPr sz="1275" b="1">
                <a:solidFill>
                  <a:srgbClr val="D94750"/>
                </a:solidFill>
                <a:latin typeface="Aptos"/>
                <a:ea typeface="Aptos"/>
                <a:cs typeface="Aptos"/>
              </a:rPr>
              <a:t>07</a:t>
            </a:r>
          </a:p>
        </p:txBody>
      </p:sp>
      <p:sp>
        <p:nvSpPr>
          <p:cNvPr id="2" name="">
            <a:extLst xmlns:a="http://schemas.openxmlformats.org/drawingml/2006/main">
              <a:ext uri="{FF2B5EF4-FFF2-40B4-BE49-F238E27FC236}">
                <a16:creationId xmlns:a16="http://schemas.microsoft.com/office/drawing/2014/main" id="{C9977D92-FB88-4507-AB4A-25950229EAE2}"/>
              </a:ext>
            </a:extLst>
          </p:cNvPr>
          <p:cNvSpPr>
            <a:spLocks xmlns:a="http://schemas.openxmlformats.org/drawingml/2006/main" noGrp="1"/>
          </p:cNvSpPr>
          <p:nvPr/>
        </p:nvSpPr>
        <p:spPr>
          <a:xfrm xmlns:a="http://schemas.openxmlformats.org/drawingml/2006/main">
            <a:off x="609600" y="5238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The MVP improves decisions without</a:t>
            </a:r>
          </a:p>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rewriting host cancellation terms</a:t>
            </a:r>
          </a:p>
        </p:txBody>
      </p:sp>
      <p:sp>
        <p:nvSpPr>
          <p:cNvPr id="3" name="">
            <a:extLst xmlns:a="http://schemas.openxmlformats.org/drawingml/2006/main">
              <a:ext uri="{FF2B5EF4-FFF2-40B4-BE49-F238E27FC236}">
                <a16:creationId xmlns:a16="http://schemas.microsoft.com/office/drawing/2014/main" id="{0786FBCD-F514-4059-BCDB-C9F399CF631A}"/>
              </a:ext>
            </a:extLst>
          </p:cNvPr>
          <p:cNvSpPr>
            <a:spLocks xmlns:a="http://schemas.openxmlformats.org/drawingml/2006/main" noGrp="1"/>
          </p:cNvSpPr>
          <p:nvPr/>
        </p:nvSpPr>
        <p:spPr>
          <a:xfrm xmlns:a="http://schemas.openxmlformats.org/drawingml/2006/main">
            <a:off x="628650" y="16097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6E6963"/>
                </a:solidFill>
                <a:latin typeface="Aptos"/>
                <a:ea typeface="Aptos"/>
                <a:cs typeface="Aptos"/>
              </a:defRPr>
            </a:pPr>
            <a:r>
              <a:rPr sz="1575" b="0">
                <a:solidFill>
                  <a:srgbClr val="6E6963"/>
                </a:solidFill>
                <a:latin typeface="Aptos"/>
                <a:ea typeface="Aptos"/>
                <a:cs typeface="Aptos"/>
              </a:rPr>
              <a:t>Proposed prioritization: direct impact on the booking decision, bounded implementation risk</a:t>
            </a:r>
          </a:p>
        </p:txBody>
      </p:sp>
      <p:sp>
        <p:nvSpPr>
          <p:cNvPr id="4" name="">
            <a:extLst xmlns:a="http://schemas.openxmlformats.org/drawingml/2006/main">
              <a:ext uri="{FF2B5EF4-FFF2-40B4-BE49-F238E27FC236}">
                <a16:creationId xmlns:a16="http://schemas.microsoft.com/office/drawing/2014/main" id="{6E0F9627-E250-4A5B-8E05-6784F0E6D70A}"/>
              </a:ext>
            </a:extLst>
          </p:cNvPr>
          <p:cNvSpPr>
            <a:spLocks xmlns:a="http://schemas.openxmlformats.org/drawingml/2006/main" noGrp="1"/>
          </p:cNvSpPr>
          <p:nvPr/>
        </p:nvSpPr>
        <p:spPr>
          <a:xfrm xmlns:a="http://schemas.openxmlformats.org/drawingml/2006/main">
            <a:off x="628650" y="6467475"/>
            <a:ext cx="971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6E6963"/>
                </a:solidFill>
                <a:latin typeface="Aptos"/>
                <a:ea typeface="Aptos"/>
                <a:cs typeface="Aptos"/>
              </a:defRPr>
            </a:pPr>
            <a:r>
              <a:rPr sz="900" b="0">
                <a:solidFill>
                  <a:srgbClr val="6E6963"/>
                </a:solidFill>
                <a:latin typeface="Aptos"/>
                <a:ea typeface="Aptos"/>
                <a:cs typeface="Aptos"/>
              </a:rPr>
              <a:t>Independent product case study. Not affiliated with Airbnb.</a:t>
            </a:r>
          </a:p>
        </p:txBody>
      </p:sp>
      <p:graphicFrame>
        <p:nvGraphicFramePr>
          <p:cNvPr id="11" name=""/>
          <p:cNvGraphicFramePr/>
          <p:nvPr/>
        </p:nvGraphicFramePr>
        <p:xfrm>
          <a:off xmlns:a="http://schemas.openxmlformats.org/drawingml/2006/main" x="619125" y="2305050"/>
          <a:ext xmlns:a="http://schemas.openxmlformats.org/drawingml/2006/main" cx="10953750" cy="3238500"/>
        </p:xfrm>
        <a:graphic xmlns:a="http://schemas.openxmlformats.org/drawingml/2006/main">
          <a:graphicData uri="http://schemas.openxmlformats.org/drawingml/2006/table">
            <a:tbl>
              <a:tblPr/>
              <a:tblGrid>
                <a:gridCol w="1952625"/>
                <a:gridCol w="4143375"/>
                <a:gridCol w="4857750"/>
              </a:tblGrid>
              <a:tr h="539750">
                <a:tc>
                  <a:txBody>
                    <a:bodyPr/>
                    <a:lstStyle/>
                    <a:p>
                      <a:r>
                        <a:rPr sz="1425" b="1">
                          <a:solidFill>
                            <a:srgbClr val="242424"/>
                          </a:solidFill>
                          <a:latin typeface="Aptos"/>
                          <a:ea typeface="Aptos"/>
                          <a:cs typeface="Aptos"/>
                        </a:rPr>
                        <a:t>Decision</a:t>
                      </a:r>
                    </a:p>
                  </a:txBody>
                  <a:tcPr marL="91440" marR="91440" marT="45720" marB="45720">
                    <a:solidFill>
                      <a:srgbClr val="F3E4DE"/>
                    </a:solidFill>
                  </a:tcPr>
                </a:tc>
                <a:tc>
                  <a:txBody>
                    <a:bodyPr/>
                    <a:lstStyle/>
                    <a:p>
                      <a:r>
                        <a:rPr sz="1425" b="1">
                          <a:solidFill>
                            <a:srgbClr val="242424"/>
                          </a:solidFill>
                          <a:latin typeface="Aptos"/>
                          <a:ea typeface="Aptos"/>
                          <a:cs typeface="Aptos"/>
                        </a:rPr>
                        <a:t>Scope</a:t>
                      </a:r>
                    </a:p>
                  </a:txBody>
                  <a:tcPr marL="91440" marR="91440" marT="45720" marB="45720">
                    <a:solidFill>
                      <a:srgbClr val="F3E4DE"/>
                    </a:solidFill>
                  </a:tcPr>
                </a:tc>
                <a:tc>
                  <a:txBody>
                    <a:bodyPr/>
                    <a:lstStyle/>
                    <a:p>
                      <a:r>
                        <a:rPr sz="1425" b="1">
                          <a:solidFill>
                            <a:srgbClr val="242424"/>
                          </a:solidFill>
                          <a:latin typeface="Aptos"/>
                          <a:ea typeface="Aptos"/>
                          <a:cs typeface="Aptos"/>
                        </a:rPr>
                        <a:t>Why</a:t>
                      </a:r>
                    </a:p>
                  </a:txBody>
                  <a:tcPr marL="91440" marR="91440" marT="45720" marB="45720">
                    <a:solidFill>
                      <a:srgbClr val="F3E4DE"/>
                    </a:solidFill>
                  </a:tcPr>
                </a:tc>
              </a:tr>
              <a:tr h="539750">
                <a:tc>
                  <a:txBody>
                    <a:bodyPr/>
                    <a:lstStyle/>
                    <a:p>
                      <a:r>
                        <a:rPr sz="1650" b="0">
                          <a:solidFill>
                            <a:srgbClr val="242424"/>
                          </a:solidFill>
                          <a:latin typeface="Aptos"/>
                          <a:ea typeface="Aptos"/>
                          <a:cs typeface="Aptos"/>
                        </a:rPr>
                        <a:t>Build first</a:t>
                      </a:r>
                    </a:p>
                  </a:txBody>
                  <a:tcPr marL="91440" marR="91440" marT="45720" marB="45720">
                    <a:solidFill>
                      <a:srgbClr val="F8F5F0"/>
                    </a:solidFill>
                  </a:tcPr>
                </a:tc>
                <a:tc>
                  <a:txBody>
                    <a:bodyPr/>
                    <a:lstStyle/>
                    <a:p>
                      <a:r>
                        <a:rPr sz="1650" b="0">
                          <a:solidFill>
                            <a:srgbClr val="242424"/>
                          </a:solidFill>
                          <a:latin typeface="Aptos"/>
                          <a:ea typeface="Aptos"/>
                          <a:cs typeface="Aptos"/>
                        </a:rPr>
                        <a:t>Evidence fields + Long-stay brief</a:t>
                      </a:r>
                    </a:p>
                  </a:txBody>
                  <a:tcPr marL="91440" marR="91440" marT="45720" marB="45720">
                    <a:solidFill>
                      <a:srgbClr val="F8F5F0"/>
                    </a:solidFill>
                  </a:tcPr>
                </a:tc>
                <a:tc>
                  <a:txBody>
                    <a:bodyPr/>
                    <a:lstStyle/>
                    <a:p>
                      <a:r>
                        <a:rPr sz="1650" b="0">
                          <a:solidFill>
                            <a:srgbClr val="242424"/>
                          </a:solidFill>
                          <a:latin typeface="Aptos"/>
                          <a:ea typeface="Aptos"/>
                          <a:cs typeface="Aptos"/>
                        </a:rPr>
                        <a:t>Makes suitability inspectable</a:t>
                      </a:r>
                    </a:p>
                  </a:txBody>
                  <a:tcPr marL="91440" marR="91440" marT="45720" marB="45720">
                    <a:solidFill>
                      <a:srgbClr val="F8F5F0"/>
                    </a:solidFill>
                  </a:tcPr>
                </a:tc>
              </a:tr>
              <a:tr h="539750">
                <a:tc>
                  <a:txBody>
                    <a:bodyPr/>
                    <a:lstStyle/>
                    <a:p>
                      <a:r>
                        <a:rPr sz="1650" b="0">
                          <a:solidFill>
                            <a:srgbClr val="242424"/>
                          </a:solidFill>
                          <a:latin typeface="Aptos"/>
                          <a:ea typeface="Aptos"/>
                          <a:cs typeface="Aptos"/>
                        </a:rPr>
                        <a:t>Build first</a:t>
                      </a:r>
                    </a:p>
                  </a:txBody>
                  <a:tcPr marL="91440" marR="91440" marT="45720" marB="45720">
                    <a:solidFill>
                      <a:srgbClr val="F0EBE5"/>
                    </a:solidFill>
                  </a:tcPr>
                </a:tc>
                <a:tc>
                  <a:txBody>
                    <a:bodyPr/>
                    <a:lstStyle/>
                    <a:p>
                      <a:r>
                        <a:rPr sz="1650" b="0">
                          <a:solidFill>
                            <a:srgbClr val="242424"/>
                          </a:solidFill>
                          <a:latin typeface="Aptos"/>
                          <a:ea typeface="Aptos"/>
                          <a:cs typeface="Aptos"/>
                        </a:rPr>
                        <a:t>Schedule + cancellation calculator</a:t>
                      </a:r>
                    </a:p>
                  </a:txBody>
                  <a:tcPr marL="91440" marR="91440" marT="45720" marB="45720">
                    <a:solidFill>
                      <a:srgbClr val="F0EBE5"/>
                    </a:solidFill>
                  </a:tcPr>
                </a:tc>
                <a:tc>
                  <a:txBody>
                    <a:bodyPr/>
                    <a:lstStyle/>
                    <a:p>
                      <a:r>
                        <a:rPr sz="1650" b="0">
                          <a:solidFill>
                            <a:srgbClr val="242424"/>
                          </a:solidFill>
                          <a:latin typeface="Aptos"/>
                          <a:ea typeface="Aptos"/>
                          <a:cs typeface="Aptos"/>
                        </a:rPr>
                        <a:t>Clarifies financial exposure</a:t>
                      </a:r>
                    </a:p>
                  </a:txBody>
                  <a:tcPr marL="91440" marR="91440" marT="45720" marB="45720">
                    <a:solidFill>
                      <a:srgbClr val="F0EBE5"/>
                    </a:solidFill>
                  </a:tcPr>
                </a:tc>
              </a:tr>
              <a:tr h="539750">
                <a:tc>
                  <a:txBody>
                    <a:bodyPr/>
                    <a:lstStyle/>
                    <a:p>
                      <a:r>
                        <a:rPr sz="1650" b="0">
                          <a:solidFill>
                            <a:srgbClr val="242424"/>
                          </a:solidFill>
                          <a:latin typeface="Aptos"/>
                          <a:ea typeface="Aptos"/>
                          <a:cs typeface="Aptos"/>
                        </a:rPr>
                        <a:t>Reuse</a:t>
                      </a:r>
                    </a:p>
                  </a:txBody>
                  <a:tcPr marL="91440" marR="91440" marT="45720" marB="45720">
                    <a:solidFill>
                      <a:srgbClr val="F8F5F0"/>
                    </a:solidFill>
                  </a:tcPr>
                </a:tc>
                <a:tc>
                  <a:txBody>
                    <a:bodyPr/>
                    <a:lstStyle/>
                    <a:p>
                      <a:r>
                        <a:rPr sz="1650" b="0">
                          <a:solidFill>
                            <a:srgbClr val="242424"/>
                          </a:solidFill>
                          <a:latin typeface="Aptos"/>
                          <a:ea typeface="Aptos"/>
                          <a:cs typeface="Aptos"/>
                        </a:rPr>
                        <a:t>Search, messaging, policy engine</a:t>
                      </a:r>
                    </a:p>
                  </a:txBody>
                  <a:tcPr marL="91440" marR="91440" marT="45720" marB="45720">
                    <a:solidFill>
                      <a:srgbClr val="F8F5F0"/>
                    </a:solidFill>
                  </a:tcPr>
                </a:tc>
                <a:tc>
                  <a:txBody>
                    <a:bodyPr/>
                    <a:lstStyle/>
                    <a:p>
                      <a:r>
                        <a:rPr sz="1650" b="0">
                          <a:solidFill>
                            <a:srgbClr val="242424"/>
                          </a:solidFill>
                          <a:latin typeface="Aptos"/>
                          <a:ea typeface="Aptos"/>
                          <a:cs typeface="Aptos"/>
                        </a:rPr>
                        <a:t>Keeps one source of truth</a:t>
                      </a:r>
                    </a:p>
                  </a:txBody>
                  <a:tcPr marL="91440" marR="91440" marT="45720" marB="45720">
                    <a:solidFill>
                      <a:srgbClr val="F8F5F0"/>
                    </a:solidFill>
                  </a:tcPr>
                </a:tc>
              </a:tr>
              <a:tr h="539750">
                <a:tc>
                  <a:txBody>
                    <a:bodyPr/>
                    <a:lstStyle/>
                    <a:p>
                      <a:r>
                        <a:rPr sz="1650" b="0">
                          <a:solidFill>
                            <a:srgbClr val="242424"/>
                          </a:solidFill>
                          <a:latin typeface="Aptos"/>
                          <a:ea typeface="Aptos"/>
                          <a:cs typeface="Aptos"/>
                        </a:rPr>
                        <a:t>Defer</a:t>
                      </a:r>
                    </a:p>
                  </a:txBody>
                  <a:tcPr marL="91440" marR="91440" marT="45720" marB="45720">
                    <a:solidFill>
                      <a:srgbClr val="F0EBE5"/>
                    </a:solidFill>
                  </a:tcPr>
                </a:tc>
                <a:tc>
                  <a:txBody>
                    <a:bodyPr/>
                    <a:lstStyle/>
                    <a:p>
                      <a:r>
                        <a:rPr sz="1650" b="0">
                          <a:solidFill>
                            <a:srgbClr val="242424"/>
                          </a:solidFill>
                          <a:latin typeface="Aptos"/>
                          <a:ea typeface="Aptos"/>
                          <a:cs typeface="Aptos"/>
                        </a:rPr>
                        <a:t>Inspection badge, free trial nights</a:t>
                      </a:r>
                    </a:p>
                  </a:txBody>
                  <a:tcPr marL="91440" marR="91440" marT="45720" marB="45720">
                    <a:solidFill>
                      <a:srgbClr val="F0EBE5"/>
                    </a:solidFill>
                  </a:tcPr>
                </a:tc>
                <a:tc>
                  <a:txBody>
                    <a:bodyPr/>
                    <a:lstStyle/>
                    <a:p>
                      <a:r>
                        <a:rPr sz="1650" b="0">
                          <a:solidFill>
                            <a:srgbClr val="242424"/>
                          </a:solidFill>
                          <a:latin typeface="Aptos"/>
                          <a:ea typeface="Aptos"/>
                          <a:cs typeface="Aptos"/>
                        </a:rPr>
                        <a:t>Operational cost and host risk</a:t>
                      </a:r>
                    </a:p>
                  </a:txBody>
                  <a:tcPr marL="91440" marR="91440" marT="45720" marB="45720">
                    <a:solidFill>
                      <a:srgbClr val="F0EBE5"/>
                    </a:solidFill>
                  </a:tcPr>
                </a:tc>
              </a:tr>
              <a:tr h="539750">
                <a:tc>
                  <a:txBody>
                    <a:bodyPr/>
                    <a:lstStyle/>
                    <a:p>
                      <a:r>
                        <a:rPr sz="1650" b="0">
                          <a:solidFill>
                            <a:srgbClr val="242424"/>
                          </a:solidFill>
                          <a:latin typeface="Aptos"/>
                          <a:ea typeface="Aptos"/>
                          <a:cs typeface="Aptos"/>
                        </a:rPr>
                        <a:t>Defer</a:t>
                      </a:r>
                    </a:p>
                  </a:txBody>
                  <a:tcPr marL="91440" marR="91440" marT="45720" marB="45720">
                    <a:solidFill>
                      <a:srgbClr val="F8F5F0"/>
                    </a:solidFill>
                  </a:tcPr>
                </a:tc>
                <a:tc>
                  <a:txBody>
                    <a:bodyPr/>
                    <a:lstStyle/>
                    <a:p>
                      <a:r>
                        <a:rPr sz="1650" b="0">
                          <a:solidFill>
                            <a:srgbClr val="242424"/>
                          </a:solidFill>
                          <a:latin typeface="Aptos"/>
                          <a:ea typeface="Aptos"/>
                          <a:cs typeface="Aptos"/>
                        </a:rPr>
                        <a:t>Visa help and neighborhood scores</a:t>
                      </a:r>
                    </a:p>
                  </a:txBody>
                  <a:tcPr marL="91440" marR="91440" marT="45720" marB="45720">
                    <a:solidFill>
                      <a:srgbClr val="F8F5F0"/>
                    </a:solidFill>
                  </a:tcPr>
                </a:tc>
                <a:tc>
                  <a:txBody>
                    <a:bodyPr/>
                    <a:lstStyle/>
                    <a:p>
                      <a:r>
                        <a:rPr sz="1650" b="0">
                          <a:solidFill>
                            <a:srgbClr val="242424"/>
                          </a:solidFill>
                          <a:latin typeface="Aptos"/>
                          <a:ea typeface="Aptos"/>
                          <a:cs typeface="Aptos"/>
                        </a:rPr>
                        <a:t>Legal complexity and bias risk</a:t>
                      </a:r>
                    </a:p>
                  </a:txBody>
                  <a:tcPr marL="91440" marR="91440" marT="45720" marB="45720">
                    <a:solidFill>
                      <a:srgbClr val="F8F5F0"/>
                    </a:solidFill>
                  </a:tcPr>
                </a:tc>
              </a:tr>
            </a:tbl>
          </a:graphicData>
        </a:graphic>
      </p:graphicFrame>
      <p:sp>
        <p:nvSpPr>
          <p:cNvPr id="6" name="">
            <a:extLst xmlns:a="http://schemas.openxmlformats.org/drawingml/2006/main">
              <a:ext uri="{FF2B5EF4-FFF2-40B4-BE49-F238E27FC236}">
                <a16:creationId xmlns:a16="http://schemas.microsoft.com/office/drawing/2014/main" id="{45634AAB-B90D-419A-AF61-2388A3E6424C}"/>
              </a:ext>
            </a:extLst>
          </p:cNvPr>
          <p:cNvSpPr>
            <a:spLocks xmlns:a="http://schemas.openxmlformats.org/drawingml/2006/main" noGrp="1"/>
          </p:cNvSpPr>
          <p:nvPr/>
        </p:nvSpPr>
        <p:spPr>
          <a:xfrm xmlns:a="http://schemas.openxmlformats.org/drawingml/2006/main">
            <a:off x="619125" y="5781675"/>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D94750"/>
                </a:solidFill>
                <a:latin typeface="Aptos"/>
                <a:ea typeface="Aptos"/>
                <a:cs typeface="Aptos"/>
              </a:defRPr>
            </a:pPr>
            <a:r>
              <a:rPr sz="1800" b="1">
                <a:solidFill>
                  <a:srgbClr val="D94750"/>
                </a:solidFill>
                <a:latin typeface="Aptos"/>
                <a:ea typeface="Aptos"/>
                <a:cs typeface="Aptos"/>
              </a:rPr>
              <a:t>Host incentive hypothesis: fewer repeated questions and better-matched bookings</a:t>
            </a:r>
          </a:p>
        </p:txBody>
      </p:sp>
    </p:spTree>
    <p:extLst>
      <p:ext uri="{BB962C8B-B14F-4D97-AF65-F5344CB8AC3E}">
        <p14:creationId xmlns:p14="http://schemas.microsoft.com/office/powerpoint/2010/main" val="1513467863"/>
      </p:ext>
    </p:extLst>
  </p:cSld>
</p:sld>
</file>

<file path=ppt/slides/slide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6A37E4-D37E-45D9-9156-BE30872907D2}"/>
              </a:ext>
            </a:extLst>
          </p:cNvPr>
          <p:cNvSpPr>
            <a:spLocks xmlns:a="http://schemas.openxmlformats.org/drawingml/2006/main" noGrp="1"/>
          </p:cNvSpPr>
          <p:nvPr/>
        </p:nvSpPr>
        <p:spPr>
          <a:xfrm xmlns:a="http://schemas.openxmlformats.org/drawingml/2006/main">
            <a:off x="11239500" y="4286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D94750"/>
                </a:solidFill>
                <a:latin typeface="Aptos"/>
                <a:ea typeface="Aptos"/>
                <a:cs typeface="Aptos"/>
              </a:defRPr>
            </a:pPr>
            <a:r>
              <a:rPr sz="1275" b="1">
                <a:solidFill>
                  <a:srgbClr val="D94750"/>
                </a:solidFill>
                <a:latin typeface="Aptos"/>
                <a:ea typeface="Aptos"/>
                <a:cs typeface="Aptos"/>
              </a:rPr>
              <a:t>08</a:t>
            </a:r>
          </a:p>
        </p:txBody>
      </p:sp>
      <p:sp>
        <p:nvSpPr>
          <p:cNvPr id="2" name="">
            <a:extLst xmlns:a="http://schemas.openxmlformats.org/drawingml/2006/main">
              <a:ext uri="{FF2B5EF4-FFF2-40B4-BE49-F238E27FC236}">
                <a16:creationId xmlns:a16="http://schemas.microsoft.com/office/drawing/2014/main" id="{6A50A71E-9639-417C-8CE9-0661C541C9DB}"/>
              </a:ext>
            </a:extLst>
          </p:cNvPr>
          <p:cNvSpPr>
            <a:spLocks xmlns:a="http://schemas.openxmlformats.org/drawingml/2006/main" noGrp="1"/>
          </p:cNvSpPr>
          <p:nvPr/>
        </p:nvSpPr>
        <p:spPr>
          <a:xfrm xmlns:a="http://schemas.openxmlformats.org/drawingml/2006/main">
            <a:off x="609600" y="5238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Trust needs evidence, limits and a remedy</a:t>
            </a:r>
          </a:p>
        </p:txBody>
      </p:sp>
      <p:sp>
        <p:nvSpPr>
          <p:cNvPr id="3" name="">
            <a:extLst xmlns:a="http://schemas.openxmlformats.org/drawingml/2006/main">
              <a:ext uri="{FF2B5EF4-FFF2-40B4-BE49-F238E27FC236}">
                <a16:creationId xmlns:a16="http://schemas.microsoft.com/office/drawing/2014/main" id="{62E093A9-6392-4E92-8483-162C2189CA3A}"/>
              </a:ext>
            </a:extLst>
          </p:cNvPr>
          <p:cNvSpPr>
            <a:spLocks xmlns:a="http://schemas.openxmlformats.org/drawingml/2006/main" noGrp="1"/>
          </p:cNvSpPr>
          <p:nvPr/>
        </p:nvSpPr>
        <p:spPr>
          <a:xfrm xmlns:a="http://schemas.openxmlformats.org/drawingml/2006/main">
            <a:off x="628650" y="16097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6E6963"/>
                </a:solidFill>
                <a:latin typeface="Aptos"/>
                <a:ea typeface="Aptos"/>
                <a:cs typeface="Aptos"/>
              </a:defRPr>
            </a:pPr>
            <a:r>
              <a:rPr sz="1575" b="0">
                <a:solidFill>
                  <a:srgbClr val="6E6963"/>
                </a:solidFill>
                <a:latin typeface="Aptos"/>
                <a:ea typeface="Aptos"/>
                <a:cs typeface="Aptos"/>
              </a:rPr>
              <a:t>Proposed operating model with guest and host protections</a:t>
            </a:r>
          </a:p>
        </p:txBody>
      </p:sp>
      <p:sp>
        <p:nvSpPr>
          <p:cNvPr id="4" name="">
            <a:extLst xmlns:a="http://schemas.openxmlformats.org/drawingml/2006/main">
              <a:ext uri="{FF2B5EF4-FFF2-40B4-BE49-F238E27FC236}">
                <a16:creationId xmlns:a16="http://schemas.microsoft.com/office/drawing/2014/main" id="{25130368-8FB0-4F25-97A9-B1B97A7693D1}"/>
              </a:ext>
            </a:extLst>
          </p:cNvPr>
          <p:cNvSpPr>
            <a:spLocks xmlns:a="http://schemas.openxmlformats.org/drawingml/2006/main" noGrp="1"/>
          </p:cNvSpPr>
          <p:nvPr/>
        </p:nvSpPr>
        <p:spPr>
          <a:xfrm xmlns:a="http://schemas.openxmlformats.org/drawingml/2006/main">
            <a:off x="628650" y="6467475"/>
            <a:ext cx="971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6E6963"/>
                </a:solidFill>
                <a:latin typeface="Aptos"/>
                <a:ea typeface="Aptos"/>
                <a:cs typeface="Aptos"/>
              </a:defRPr>
            </a:pPr>
            <a:r>
              <a:rPr sz="900" b="0">
                <a:solidFill>
                  <a:srgbClr val="6E6963"/>
                </a:solidFill>
                <a:latin typeface="Aptos"/>
                <a:ea typeface="Aptos"/>
                <a:cs typeface="Aptos"/>
              </a:rPr>
              <a:t>Independent product case study. Not affiliated with Airbnb.</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f88f95cb4be47fe"/>
          <a:srcRect xmlns:a="http://schemas.openxmlformats.org/drawingml/2006/main" l="16924" t="0" r="16924" b="0"/>
          <a:stretch xmlns:a="http://schemas.openxmlformats.org/drawingml/2006/main">
            <a:fillRect l="0" t="0" r="0" b="0"/>
          </a:stretch>
        </p:blipFill>
        <p:spPr>
          <a:xfrm xmlns:a="http://schemas.openxmlformats.org/drawingml/2006/main">
            <a:off x="619125" y="2305050"/>
            <a:ext cx="3667125" cy="3695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3B90D71-C44C-4AA1-B8D5-0983F5F0BC6D}"/>
              </a:ext>
            </a:extLst>
          </p:cNvPr>
          <p:cNvSpPr>
            <a:spLocks xmlns:a="http://schemas.openxmlformats.org/drawingml/2006/main" noGrp="1"/>
          </p:cNvSpPr>
          <p:nvPr/>
        </p:nvSpPr>
        <p:spPr>
          <a:xfrm xmlns:a="http://schemas.openxmlformats.org/drawingml/2006/main">
            <a:off x="4714875" y="2324100"/>
            <a:ext cx="676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2424"/>
                </a:solidFill>
                <a:latin typeface="Aptos"/>
                <a:ea typeface="Aptos"/>
                <a:cs typeface="Aptos"/>
              </a:defRPr>
            </a:pPr>
            <a:r>
              <a:rPr sz="2100" b="1">
                <a:solidFill>
                  <a:srgbClr val="242424"/>
                </a:solidFill>
                <a:latin typeface="Aptos"/>
                <a:ea typeface="Aptos"/>
                <a:cs typeface="Aptos"/>
              </a:rPr>
              <a:t>Claims guests can inspect</a:t>
            </a:r>
          </a:p>
        </p:txBody>
      </p:sp>
      <p:sp>
        <p:nvSpPr>
          <p:cNvPr id="7" name="">
            <a:extLst xmlns:a="http://schemas.openxmlformats.org/drawingml/2006/main">
              <a:ext uri="{FF2B5EF4-FFF2-40B4-BE49-F238E27FC236}">
                <a16:creationId xmlns:a16="http://schemas.microsoft.com/office/drawing/2014/main" id="{59406E09-7D16-4E67-82C3-3665955A86F4}"/>
              </a:ext>
            </a:extLst>
          </p:cNvPr>
          <p:cNvSpPr>
            <a:spLocks xmlns:a="http://schemas.openxmlformats.org/drawingml/2006/main" noGrp="1"/>
          </p:cNvSpPr>
          <p:nvPr/>
        </p:nvSpPr>
        <p:spPr>
          <a:xfrm xmlns:a="http://schemas.openxmlformats.org/drawingml/2006/main">
            <a:off x="4724400" y="2743200"/>
            <a:ext cx="666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242424"/>
                </a:solidFill>
                <a:latin typeface="Aptos"/>
                <a:ea typeface="Aptos"/>
                <a:cs typeface="Aptos"/>
              </a:defRPr>
            </a:pPr>
            <a:r>
              <a:rPr sz="1800" b="0">
                <a:solidFill>
                  <a:srgbClr val="242424"/>
                </a:solidFill>
                <a:latin typeface="Aptos"/>
                <a:ea typeface="Aptos"/>
                <a:cs typeface="Aptos"/>
              </a:rPr>
              <a:t>Timestamp evidence and flag unknowns.</a:t>
            </a:r>
          </a:p>
          <a:p xmlns:a="http://schemas.openxmlformats.org/drawingml/2006/main">
            <a:pPr>
              <a:defRPr sz="1800" b="0">
                <a:solidFill>
                  <a:srgbClr val="242424"/>
                </a:solidFill>
                <a:latin typeface="Aptos"/>
                <a:ea typeface="Aptos"/>
                <a:cs typeface="Aptos"/>
              </a:defRPr>
            </a:pPr>
            <a:r>
              <a:rPr sz="1800" b="0">
                <a:solidFill>
                  <a:srgbClr val="242424"/>
                </a:solidFill>
                <a:latin typeface="Aptos"/>
                <a:ea typeface="Aptos"/>
                <a:cs typeface="Aptos"/>
              </a:rPr>
              <a:t>Refresh stale claims, audit samples, allow host appeals.</a:t>
            </a:r>
          </a:p>
          <a:p xmlns:a="http://schemas.openxmlformats.org/drawingml/2006/main">
            <a:pPr>
              <a:defRPr sz="1800" b="0">
                <a:solidFill>
                  <a:srgbClr val="242424"/>
                </a:solidFill>
                <a:latin typeface="Aptos"/>
                <a:ea typeface="Aptos"/>
                <a:cs typeface="Aptos"/>
              </a:defRPr>
            </a:pPr>
            <a:r>
              <a:rPr sz="1800" b="0">
                <a:solidFill>
                  <a:srgbClr val="242424"/>
                </a:solidFill>
                <a:latin typeface="Aptos"/>
                <a:ea typeface="Aptos"/>
                <a:cs typeface="Aptos"/>
              </a:rPr>
              <a:t>A wifi test does not guarantee uptime.</a:t>
            </a:r>
          </a:p>
        </p:txBody>
      </p:sp>
      <p:sp>
        <p:nvSpPr>
          <p:cNvPr id="8" name="">
            <a:extLst xmlns:a="http://schemas.openxmlformats.org/drawingml/2006/main">
              <a:ext uri="{FF2B5EF4-FFF2-40B4-BE49-F238E27FC236}">
                <a16:creationId xmlns:a16="http://schemas.microsoft.com/office/drawing/2014/main" id="{26466320-3033-4D09-9A81-9E5D2EA0F582}"/>
              </a:ext>
            </a:extLst>
          </p:cNvPr>
          <p:cNvSpPr>
            <a:spLocks xmlns:a="http://schemas.openxmlformats.org/drawingml/2006/main" noGrp="1"/>
          </p:cNvSpPr>
          <p:nvPr/>
        </p:nvSpPr>
        <p:spPr>
          <a:xfrm xmlns:a="http://schemas.openxmlformats.org/drawingml/2006/main">
            <a:off x="4714875" y="3981450"/>
            <a:ext cx="676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2424"/>
                </a:solidFill>
                <a:latin typeface="Aptos"/>
                <a:ea typeface="Aptos"/>
                <a:cs typeface="Aptos"/>
              </a:defRPr>
            </a:pPr>
            <a:r>
              <a:rPr sz="2100" b="1">
                <a:solidFill>
                  <a:srgbClr val="242424"/>
                </a:solidFill>
                <a:latin typeface="Aptos"/>
                <a:ea typeface="Aptos"/>
                <a:cs typeface="Aptos"/>
              </a:rPr>
              <a:t>Recovery with clear limits</a:t>
            </a:r>
          </a:p>
        </p:txBody>
      </p:sp>
      <p:sp>
        <p:nvSpPr>
          <p:cNvPr id="9" name="">
            <a:extLst xmlns:a="http://schemas.openxmlformats.org/drawingml/2006/main">
              <a:ext uri="{FF2B5EF4-FFF2-40B4-BE49-F238E27FC236}">
                <a16:creationId xmlns:a16="http://schemas.microsoft.com/office/drawing/2014/main" id="{D43AB0DF-D7B5-49DE-A95C-F0F38A517BAA}"/>
              </a:ext>
            </a:extLst>
          </p:cNvPr>
          <p:cNvSpPr>
            <a:spLocks xmlns:a="http://schemas.openxmlformats.org/drawingml/2006/main" noGrp="1"/>
          </p:cNvSpPr>
          <p:nvPr/>
        </p:nvSpPr>
        <p:spPr>
          <a:xfrm xmlns:a="http://schemas.openxmlformats.org/drawingml/2006/main">
            <a:off x="4724400" y="4410075"/>
            <a:ext cx="666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242424"/>
                </a:solidFill>
                <a:latin typeface="Aptos"/>
                <a:ea typeface="Aptos"/>
                <a:cs typeface="Aptos"/>
              </a:defRPr>
            </a:pPr>
            <a:r>
              <a:rPr sz="1800" b="0">
                <a:solidFill>
                  <a:srgbClr val="242424"/>
                </a:solidFill>
                <a:latin typeface="Aptos"/>
                <a:ea typeface="Aptos"/>
                <a:cs typeface="Aptos"/>
              </a:rPr>
              <a:t>Save the booked brief. Route serious mismatches</a:t>
            </a:r>
          </a:p>
          <a:p xmlns:a="http://schemas.openxmlformats.org/drawingml/2006/main">
            <a:pPr>
              <a:defRPr sz="1800" b="0">
                <a:solidFill>
                  <a:srgbClr val="242424"/>
                </a:solidFill>
                <a:latin typeface="Aptos"/>
                <a:ea typeface="Aptos"/>
                <a:cs typeface="Aptos"/>
              </a:defRPr>
            </a:pPr>
            <a:r>
              <a:rPr sz="1800" b="0">
                <a:solidFill>
                  <a:srgbClr val="242424"/>
                </a:solidFill>
                <a:latin typeface="Aptos"/>
                <a:ea typeface="Aptos"/>
                <a:cs typeface="Aptos"/>
              </a:rPr>
              <a:t>to AirCover review. Rebooking depends on supply.</a:t>
            </a:r>
          </a:p>
          <a:p xmlns:a="http://schemas.openxmlformats.org/drawingml/2006/main">
            <a:pPr>
              <a:defRPr sz="1800" b="0">
                <a:solidFill>
                  <a:srgbClr val="242424"/>
                </a:solidFill>
                <a:latin typeface="Aptos"/>
                <a:ea typeface="Aptos"/>
                <a:cs typeface="Aptos"/>
              </a:defRPr>
            </a:pPr>
            <a:r>
              <a:rPr sz="1800" b="0">
                <a:solidFill>
                  <a:srgbClr val="242424"/>
                </a:solidFill>
                <a:latin typeface="Aptos"/>
                <a:ea typeface="Aptos"/>
                <a:cs typeface="Aptos"/>
              </a:rPr>
              <a:t>Approve local rules before opening each market.</a:t>
            </a:r>
          </a:p>
        </p:txBody>
      </p:sp>
      <p:sp>
        <p:nvSpPr>
          <p:cNvPr id="10" name="">
            <a:extLst xmlns:a="http://schemas.openxmlformats.org/drawingml/2006/main">
              <a:ext uri="{FF2B5EF4-FFF2-40B4-BE49-F238E27FC236}">
                <a16:creationId xmlns:a16="http://schemas.microsoft.com/office/drawing/2014/main" id="{8546350A-7A3D-41B3-AA36-4EF1AE170DD0}"/>
              </a:ext>
            </a:extLst>
          </p:cNvPr>
          <p:cNvSpPr>
            <a:spLocks xmlns:a="http://schemas.openxmlformats.org/drawingml/2006/main" noGrp="1"/>
          </p:cNvSpPr>
          <p:nvPr/>
        </p:nvSpPr>
        <p:spPr>
          <a:xfrm xmlns:a="http://schemas.openxmlformats.org/drawingml/2006/main">
            <a:off x="4714875" y="56769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D94750"/>
                </a:solidFill>
                <a:latin typeface="Aptos"/>
                <a:ea typeface="Aptos"/>
                <a:cs typeface="Aptos"/>
              </a:defRPr>
            </a:pPr>
            <a:r>
              <a:rPr sz="1725" b="1">
                <a:solidFill>
                  <a:srgbClr val="D94750"/>
                </a:solidFill>
                <a:latin typeface="Aptos"/>
                <a:ea typeface="Aptos"/>
                <a:cs typeface="Aptos"/>
              </a:rPr>
              <a:t>Proposed safeguard: no blanket “work-ready” badge</a:t>
            </a:r>
          </a:p>
        </p:txBody>
      </p:sp>
    </p:spTree>
    <p:extLst>
      <p:ext uri="{BB962C8B-B14F-4D97-AF65-F5344CB8AC3E}">
        <p14:creationId xmlns:p14="http://schemas.microsoft.com/office/powerpoint/2010/main" val="1110405738"/>
      </p:ext>
    </p:extLst>
  </p:cSld>
</p:sld>
</file>

<file path=ppt/slides/slide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CAA03E6-3975-475E-A33F-D802D2F9D196}"/>
              </a:ext>
            </a:extLst>
          </p:cNvPr>
          <p:cNvSpPr>
            <a:spLocks xmlns:a="http://schemas.openxmlformats.org/drawingml/2006/main" noGrp="1"/>
          </p:cNvSpPr>
          <p:nvPr/>
        </p:nvSpPr>
        <p:spPr>
          <a:xfrm xmlns:a="http://schemas.openxmlformats.org/drawingml/2006/main">
            <a:off x="11239500" y="4286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D94750"/>
                </a:solidFill>
                <a:latin typeface="Aptos"/>
                <a:ea typeface="Aptos"/>
                <a:cs typeface="Aptos"/>
              </a:defRPr>
            </a:pPr>
            <a:r>
              <a:rPr sz="1275" b="1">
                <a:solidFill>
                  <a:srgbClr val="D94750"/>
                </a:solidFill>
                <a:latin typeface="Aptos"/>
                <a:ea typeface="Aptos"/>
                <a:cs typeface="Aptos"/>
              </a:rPr>
              <a:t>09</a:t>
            </a:r>
          </a:p>
        </p:txBody>
      </p:sp>
      <p:sp>
        <p:nvSpPr>
          <p:cNvPr id="2" name="">
            <a:extLst xmlns:a="http://schemas.openxmlformats.org/drawingml/2006/main">
              <a:ext uri="{FF2B5EF4-FFF2-40B4-BE49-F238E27FC236}">
                <a16:creationId xmlns:a16="http://schemas.microsoft.com/office/drawing/2014/main" id="{4EA4A4A6-0862-4FBA-BF0D-7790E170CB77}"/>
              </a:ext>
            </a:extLst>
          </p:cNvPr>
          <p:cNvSpPr>
            <a:spLocks xmlns:a="http://schemas.openxmlformats.org/drawingml/2006/main" noGrp="1"/>
          </p:cNvSpPr>
          <p:nvPr/>
        </p:nvSpPr>
        <p:spPr>
          <a:xfrm xmlns:a="http://schemas.openxmlformats.org/drawingml/2006/main">
            <a:off x="609600" y="5238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Success means more bookings</a:t>
            </a:r>
          </a:p>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that become successful stays</a:t>
            </a:r>
          </a:p>
        </p:txBody>
      </p:sp>
      <p:sp>
        <p:nvSpPr>
          <p:cNvPr id="3" name="">
            <a:extLst xmlns:a="http://schemas.openxmlformats.org/drawingml/2006/main">
              <a:ext uri="{FF2B5EF4-FFF2-40B4-BE49-F238E27FC236}">
                <a16:creationId xmlns:a16="http://schemas.microsoft.com/office/drawing/2014/main" id="{BB836046-58D1-4056-BFDC-529C129E18F9}"/>
              </a:ext>
            </a:extLst>
          </p:cNvPr>
          <p:cNvSpPr>
            <a:spLocks xmlns:a="http://schemas.openxmlformats.org/drawingml/2006/main" noGrp="1"/>
          </p:cNvSpPr>
          <p:nvPr/>
        </p:nvSpPr>
        <p:spPr>
          <a:xfrm xmlns:a="http://schemas.openxmlformats.org/drawingml/2006/main">
            <a:off x="628650" y="16097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6E6963"/>
                </a:solidFill>
                <a:latin typeface="Aptos"/>
                <a:ea typeface="Aptos"/>
                <a:cs typeface="Aptos"/>
              </a:defRPr>
            </a:pPr>
            <a:r>
              <a:rPr sz="1575" b="0">
                <a:solidFill>
                  <a:srgbClr val="6E6963"/>
                </a:solidFill>
                <a:latin typeface="Aptos"/>
                <a:ea typeface="Aptos"/>
                <a:cs typeface="Aptos"/>
              </a:rPr>
              <a:t>Proposed experiment: persistent 50/50 guest randomization within the same eligible host pool</a:t>
            </a:r>
          </a:p>
        </p:txBody>
      </p:sp>
      <p:sp>
        <p:nvSpPr>
          <p:cNvPr id="4" name="">
            <a:extLst xmlns:a="http://schemas.openxmlformats.org/drawingml/2006/main">
              <a:ext uri="{FF2B5EF4-FFF2-40B4-BE49-F238E27FC236}">
                <a16:creationId xmlns:a16="http://schemas.microsoft.com/office/drawing/2014/main" id="{572D5CAE-18E1-4477-8135-3B576ED00EC1}"/>
              </a:ext>
            </a:extLst>
          </p:cNvPr>
          <p:cNvSpPr>
            <a:spLocks xmlns:a="http://schemas.openxmlformats.org/drawingml/2006/main" noGrp="1"/>
          </p:cNvSpPr>
          <p:nvPr/>
        </p:nvSpPr>
        <p:spPr>
          <a:xfrm xmlns:a="http://schemas.openxmlformats.org/drawingml/2006/main">
            <a:off x="628650" y="6467475"/>
            <a:ext cx="971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6E6963"/>
                </a:solidFill>
                <a:latin typeface="Aptos"/>
                <a:ea typeface="Aptos"/>
                <a:cs typeface="Aptos"/>
              </a:defRPr>
            </a:pPr>
            <a:r>
              <a:rPr sz="900" b="0">
                <a:solidFill>
                  <a:srgbClr val="6E6963"/>
                </a:solidFill>
                <a:latin typeface="Aptos"/>
                <a:ea typeface="Aptos"/>
                <a:cs typeface="Aptos"/>
              </a:rPr>
              <a:t>Independent product case study. Not affiliated with Airbnb.</a:t>
            </a:r>
          </a:p>
        </p:txBody>
      </p:sp>
      <p:sp>
        <p:nvSpPr>
          <p:cNvPr id="5" name="">
            <a:extLst xmlns:a="http://schemas.openxmlformats.org/drawingml/2006/main">
              <a:ext uri="{FF2B5EF4-FFF2-40B4-BE49-F238E27FC236}">
                <a16:creationId xmlns:a16="http://schemas.microsoft.com/office/drawing/2014/main" id="{7BA94CA2-6FEC-428F-8B4B-9DAD9C7ED830}"/>
              </a:ext>
            </a:extLst>
          </p:cNvPr>
          <p:cNvSpPr>
            <a:spLocks xmlns:a="http://schemas.openxmlformats.org/drawingml/2006/main" noGrp="1"/>
          </p:cNvSpPr>
          <p:nvPr/>
        </p:nvSpPr>
        <p:spPr>
          <a:xfrm xmlns:a="http://schemas.openxmlformats.org/drawingml/2006/main">
            <a:off x="619125" y="2266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D94750"/>
                </a:solidFill>
                <a:latin typeface="Aptos"/>
                <a:ea typeface="Aptos"/>
                <a:cs typeface="Aptos"/>
              </a:defRPr>
            </a:pPr>
            <a:r>
              <a:rPr sz="1725" b="1">
                <a:solidFill>
                  <a:srgbClr val="D94750"/>
                </a:solidFill>
                <a:latin typeface="Aptos"/>
                <a:ea typeface="Aptos"/>
                <a:cs typeface="Aptos"/>
              </a:rPr>
              <a:t>Primary proposed metric</a:t>
            </a:r>
          </a:p>
        </p:txBody>
      </p:sp>
      <p:sp>
        <p:nvSpPr>
          <p:cNvPr id="6" name="">
            <a:extLst xmlns:a="http://schemas.openxmlformats.org/drawingml/2006/main">
              <a:ext uri="{FF2B5EF4-FFF2-40B4-BE49-F238E27FC236}">
                <a16:creationId xmlns:a16="http://schemas.microsoft.com/office/drawing/2014/main" id="{BCA03DE3-F35D-4973-B634-0626DDBCFAD1}"/>
              </a:ext>
            </a:extLst>
          </p:cNvPr>
          <p:cNvSpPr>
            <a:spLocks xmlns:a="http://schemas.openxmlformats.org/drawingml/2006/main" noGrp="1"/>
          </p:cNvSpPr>
          <p:nvPr/>
        </p:nvSpPr>
        <p:spPr>
          <a:xfrm xmlns:a="http://schemas.openxmlformats.org/drawingml/2006/main">
            <a:off x="619125" y="2724150"/>
            <a:ext cx="657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242424"/>
                </a:solidFill>
                <a:latin typeface="Aptos"/>
                <a:ea typeface="Aptos"/>
                <a:cs typeface="Aptos"/>
              </a:defRPr>
            </a:pPr>
            <a:r>
              <a:rPr sz="2925" b="1">
                <a:solidFill>
                  <a:srgbClr val="242424"/>
                </a:solidFill>
                <a:latin typeface="Aptos"/>
                <a:ea typeface="Aptos"/>
                <a:cs typeface="Aptos"/>
              </a:rPr>
              <a:t>Successful day-7 stays</a:t>
            </a:r>
          </a:p>
          <a:p xmlns:a="http://schemas.openxmlformats.org/drawingml/2006/main">
            <a:pPr>
              <a:defRPr sz="2925" b="1">
                <a:solidFill>
                  <a:srgbClr val="242424"/>
                </a:solidFill>
                <a:latin typeface="Aptos"/>
                <a:ea typeface="Aptos"/>
                <a:cs typeface="Aptos"/>
              </a:defRPr>
            </a:pPr>
            <a:r>
              <a:rPr sz="2925" b="1">
                <a:solidFill>
                  <a:srgbClr val="242424"/>
                </a:solidFill>
                <a:latin typeface="Aptos"/>
                <a:ea typeface="Aptos"/>
                <a:cs typeface="Aptos"/>
              </a:rPr>
              <a:t>per eligible searcher</a:t>
            </a:r>
          </a:p>
        </p:txBody>
      </p:sp>
      <p:sp>
        <p:nvSpPr>
          <p:cNvPr id="7" name="">
            <a:extLst xmlns:a="http://schemas.openxmlformats.org/drawingml/2006/main">
              <a:ext uri="{FF2B5EF4-FFF2-40B4-BE49-F238E27FC236}">
                <a16:creationId xmlns:a16="http://schemas.microsoft.com/office/drawing/2014/main" id="{457A88E4-AC88-4B5A-8C14-44B403FCB2FC}"/>
              </a:ext>
            </a:extLst>
          </p:cNvPr>
          <p:cNvSpPr>
            <a:spLocks xmlns:a="http://schemas.openxmlformats.org/drawingml/2006/main" noGrp="1"/>
          </p:cNvSpPr>
          <p:nvPr/>
        </p:nvSpPr>
        <p:spPr>
          <a:xfrm xmlns:a="http://schemas.openxmlformats.org/drawingml/2006/main">
            <a:off x="638175" y="3971925"/>
            <a:ext cx="657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E6963"/>
                </a:solidFill>
                <a:latin typeface="Aptos"/>
                <a:ea typeface="Aptos"/>
                <a:cs typeface="Aptos"/>
              </a:defRPr>
            </a:pPr>
            <a:r>
              <a:rPr sz="1800" b="0">
                <a:solidFill>
                  <a:srgbClr val="6E6963"/>
                </a:solidFill>
                <a:latin typeface="Aptos"/>
                <a:ea typeface="Aptos"/>
                <a:cs typeface="Aptos"/>
              </a:rPr>
              <a:t>Booked, checked in, still staying, and no unresolved</a:t>
            </a:r>
          </a:p>
          <a:p xmlns:a="http://schemas.openxmlformats.org/drawingml/2006/main">
            <a:pPr>
              <a:defRPr sz="1800" b="0">
                <a:solidFill>
                  <a:srgbClr val="6E6963"/>
                </a:solidFill>
                <a:latin typeface="Aptos"/>
                <a:ea typeface="Aptos"/>
                <a:cs typeface="Aptos"/>
              </a:defRPr>
            </a:pPr>
            <a:r>
              <a:rPr sz="1800" b="0">
                <a:solidFill>
                  <a:srgbClr val="6E6963"/>
                </a:solidFill>
                <a:latin typeface="Aptos"/>
                <a:ea typeface="Aptos"/>
                <a:cs typeface="Aptos"/>
              </a:rPr>
              <a:t>material listing mismatch at day 7.</a:t>
            </a:r>
          </a:p>
        </p:txBody>
      </p:sp>
      <p:sp>
        <p:nvSpPr>
          <p:cNvPr id="8" name="">
            <a:extLst xmlns:a="http://schemas.openxmlformats.org/drawingml/2006/main">
              <a:ext uri="{FF2B5EF4-FFF2-40B4-BE49-F238E27FC236}">
                <a16:creationId xmlns:a16="http://schemas.microsoft.com/office/drawing/2014/main" id="{9916FABB-3EF5-42AA-BD0F-D05601615BDE}"/>
              </a:ext>
            </a:extLst>
          </p:cNvPr>
          <p:cNvSpPr>
            <a:spLocks xmlns:a="http://schemas.openxmlformats.org/drawingml/2006/main" noGrp="1"/>
          </p:cNvSpPr>
          <p:nvPr/>
        </p:nvSpPr>
        <p:spPr>
          <a:xfrm xmlns:a="http://schemas.openxmlformats.org/drawingml/2006/main">
            <a:off x="7934325" y="22860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242424"/>
                </a:solidFill>
                <a:latin typeface="Aptos"/>
                <a:ea typeface="Aptos"/>
                <a:cs typeface="Aptos"/>
              </a:defRPr>
            </a:pPr>
            <a:r>
              <a:rPr sz="1875" b="1">
                <a:solidFill>
                  <a:srgbClr val="242424"/>
                </a:solidFill>
                <a:latin typeface="Aptos"/>
                <a:ea typeface="Aptos"/>
                <a:cs typeface="Aptos"/>
              </a:rPr>
              <a:t>Proposed decision gates</a:t>
            </a:r>
          </a:p>
        </p:txBody>
      </p:sp>
      <p:sp>
        <p:nvSpPr>
          <p:cNvPr id="9" name="">
            <a:extLst xmlns:a="http://schemas.openxmlformats.org/drawingml/2006/main">
              <a:ext uri="{FF2B5EF4-FFF2-40B4-BE49-F238E27FC236}">
                <a16:creationId xmlns:a16="http://schemas.microsoft.com/office/drawing/2014/main" id="{28572DFE-8B80-4F86-86A6-1E5E93619762}"/>
              </a:ext>
            </a:extLst>
          </p:cNvPr>
          <p:cNvSpPr>
            <a:spLocks xmlns:a="http://schemas.openxmlformats.org/drawingml/2006/main" noGrp="1"/>
          </p:cNvSpPr>
          <p:nvPr/>
        </p:nvSpPr>
        <p:spPr>
          <a:xfrm xmlns:a="http://schemas.openxmlformats.org/drawingml/2006/main">
            <a:off x="7934325" y="2876550"/>
            <a:ext cx="36195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242424"/>
                </a:solidFill>
                <a:latin typeface="Aptos"/>
                <a:ea typeface="Aptos"/>
                <a:cs typeface="Aptos"/>
              </a:defRPr>
            </a:pPr>
            <a:r>
              <a:rPr sz="1725" b="0">
                <a:solidFill>
                  <a:srgbClr val="242424"/>
                </a:solidFill>
                <a:latin typeface="Aptos"/>
                <a:ea typeface="Aptos"/>
                <a:cs typeface="Aptos"/>
              </a:rPr>
              <a:t>Higher primary metric</a:t>
            </a:r>
          </a:p>
          <a:p xmlns:a="http://schemas.openxmlformats.org/drawingml/2006/main">
            <a:pPr>
              <a:defRPr sz="1725" b="0">
                <a:solidFill>
                  <a:srgbClr val="242424"/>
                </a:solidFill>
                <a:latin typeface="Aptos"/>
                <a:ea typeface="Aptos"/>
                <a:cs typeface="Aptos"/>
              </a:defRPr>
            </a:pPr>
            <a:r>
              <a:rPr sz="1725" b="0">
                <a:solidFill>
                  <a:srgbClr val="242424"/>
                </a:solidFill>
                <a:latin typeface="Aptos"/>
                <a:ea typeface="Aptos"/>
                <a:cs typeface="Aptos"/>
              </a:rPr>
              <a:t>95% confidence interval above zero</a:t>
            </a:r>
          </a:p>
          <a:p xmlns:a="http://schemas.openxmlformats.org/drawingml/2006/main">
            <a:r>
              <a:t/>
            </a:r>
          </a:p>
          <a:p xmlns:a="http://schemas.openxmlformats.org/drawingml/2006/main">
            <a:pPr>
              <a:defRPr sz="1725" b="0">
                <a:solidFill>
                  <a:srgbClr val="242424"/>
                </a:solidFill>
                <a:latin typeface="Aptos"/>
                <a:ea typeface="Aptos"/>
                <a:cs typeface="Aptos"/>
              </a:defRPr>
            </a:pPr>
            <a:r>
              <a:rPr sz="1725" b="0">
                <a:solidFill>
                  <a:srgbClr val="242424"/>
                </a:solidFill>
                <a:latin typeface="Aptos"/>
                <a:ea typeface="Aptos"/>
                <a:cs typeface="Aptos"/>
              </a:rPr>
              <a:t>Host net earnings / available night</a:t>
            </a:r>
          </a:p>
          <a:p xmlns:a="http://schemas.openxmlformats.org/drawingml/2006/main">
            <a:pPr>
              <a:defRPr sz="1725" b="0">
                <a:solidFill>
                  <a:srgbClr val="242424"/>
                </a:solidFill>
                <a:latin typeface="Aptos"/>
                <a:ea typeface="Aptos"/>
                <a:cs typeface="Aptos"/>
              </a:defRPr>
            </a:pPr>
            <a:r>
              <a:rPr sz="1725" b="0">
                <a:solidFill>
                  <a:srgbClr val="242424"/>
                </a:solidFill>
                <a:latin typeface="Aptos"/>
                <a:ea typeface="Aptos"/>
                <a:cs typeface="Aptos"/>
              </a:rPr>
              <a:t>No decline beyond 2%</a:t>
            </a:r>
          </a:p>
          <a:p xmlns:a="http://schemas.openxmlformats.org/drawingml/2006/main">
            <a:r>
              <a:t/>
            </a:r>
          </a:p>
          <a:p xmlns:a="http://schemas.openxmlformats.org/drawingml/2006/main">
            <a:pPr>
              <a:defRPr sz="1725" b="0">
                <a:solidFill>
                  <a:srgbClr val="242424"/>
                </a:solidFill>
                <a:latin typeface="Aptos"/>
                <a:ea typeface="Aptos"/>
                <a:cs typeface="Aptos"/>
              </a:defRPr>
            </a:pPr>
            <a:r>
              <a:rPr sz="1725" b="0">
                <a:solidFill>
                  <a:srgbClr val="242424"/>
                </a:solidFill>
                <a:latin typeface="Aptos"/>
                <a:ea typeface="Aptos"/>
                <a:cs typeface="Aptos"/>
              </a:rPr>
              <a:t>Support cost / eligible searcher</a:t>
            </a:r>
          </a:p>
          <a:p xmlns:a="http://schemas.openxmlformats.org/drawingml/2006/main">
            <a:pPr>
              <a:defRPr sz="1725" b="0">
                <a:solidFill>
                  <a:srgbClr val="242424"/>
                </a:solidFill>
                <a:latin typeface="Aptos"/>
                <a:ea typeface="Aptos"/>
                <a:cs typeface="Aptos"/>
              </a:defRPr>
            </a:pPr>
            <a:r>
              <a:rPr sz="1725" b="0">
                <a:solidFill>
                  <a:srgbClr val="242424"/>
                </a:solidFill>
                <a:latin typeface="Aptos"/>
                <a:ea typeface="Aptos"/>
                <a:cs typeface="Aptos"/>
              </a:rPr>
              <a:t>No increase beyond 5%</a:t>
            </a:r>
          </a:p>
        </p:txBody>
      </p:sp>
      <p:sp>
        <p:nvSpPr>
          <p:cNvPr id="10" name="">
            <a:extLst xmlns:a="http://schemas.openxmlformats.org/drawingml/2006/main">
              <a:ext uri="{FF2B5EF4-FFF2-40B4-BE49-F238E27FC236}">
                <a16:creationId xmlns:a16="http://schemas.microsoft.com/office/drawing/2014/main" id="{98D90477-0B4E-4DE4-9C71-35FE740F4F3E}"/>
              </a:ext>
            </a:extLst>
          </p:cNvPr>
          <p:cNvSpPr>
            <a:spLocks xmlns:a="http://schemas.openxmlformats.org/drawingml/2006/main" noGrp="1"/>
          </p:cNvSpPr>
          <p:nvPr/>
        </p:nvSpPr>
        <p:spPr>
          <a:xfrm xmlns:a="http://schemas.openxmlformats.org/drawingml/2006/main">
            <a:off x="619125" y="58197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6E6963"/>
                </a:solidFill>
                <a:latin typeface="Aptos"/>
                <a:ea typeface="Aptos"/>
                <a:cs typeface="Aptos"/>
              </a:defRPr>
            </a:pPr>
            <a:r>
              <a:rPr sz="1650" b="0">
                <a:solidFill>
                  <a:srgbClr val="6E6963"/>
                </a:solidFill>
                <a:latin typeface="Aptos"/>
                <a:ea typeface="Aptos"/>
                <a:cs typeface="Aptos"/>
              </a:rPr>
              <a:t>Diagnostics: booking rate, decision time, comprehension, evidence coverage, dispute rate</a:t>
            </a:r>
          </a:p>
        </p:txBody>
      </p:sp>
    </p:spTree>
    <p:extLst>
      <p:ext uri="{BB962C8B-B14F-4D97-AF65-F5344CB8AC3E}">
        <p14:creationId xmlns:p14="http://schemas.microsoft.com/office/powerpoint/2010/main" val="940129599"/>
      </p:ext>
    </p:extLst>
  </p:cSld>
</p:sld>
</file>

<file path=ppt/slides/slide1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B024691-745C-4880-90F9-5EC951D09CB9}"/>
              </a:ext>
            </a:extLst>
          </p:cNvPr>
          <p:cNvSpPr>
            <a:spLocks xmlns:a="http://schemas.openxmlformats.org/drawingml/2006/main" noGrp="1"/>
          </p:cNvSpPr>
          <p:nvPr/>
        </p:nvSpPr>
        <p:spPr>
          <a:xfrm xmlns:a="http://schemas.openxmlformats.org/drawingml/2006/main">
            <a:off x="11239500" y="4286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D94750"/>
                </a:solidFill>
                <a:latin typeface="Aptos"/>
                <a:ea typeface="Aptos"/>
                <a:cs typeface="Aptos"/>
              </a:defRPr>
            </a:pPr>
            <a:r>
              <a:rPr sz="1275" b="1">
                <a:solidFill>
                  <a:srgbClr val="D94750"/>
                </a:solidFill>
                <a:latin typeface="Aptos"/>
                <a:ea typeface="Aptos"/>
                <a:cs typeface="Aptos"/>
              </a:rPr>
              <a:t>10</a:t>
            </a:r>
          </a:p>
        </p:txBody>
      </p:sp>
      <p:sp>
        <p:nvSpPr>
          <p:cNvPr id="2" name="">
            <a:extLst xmlns:a="http://schemas.openxmlformats.org/drawingml/2006/main">
              <a:ext uri="{FF2B5EF4-FFF2-40B4-BE49-F238E27FC236}">
                <a16:creationId xmlns:a16="http://schemas.microsoft.com/office/drawing/2014/main" id="{C70B952B-12E7-47B9-9F02-8B387951421F}"/>
              </a:ext>
            </a:extLst>
          </p:cNvPr>
          <p:cNvSpPr>
            <a:spLocks xmlns:a="http://schemas.openxmlformats.org/drawingml/2006/main" noGrp="1"/>
          </p:cNvSpPr>
          <p:nvPr/>
        </p:nvSpPr>
        <p:spPr>
          <a:xfrm xmlns:a="http://schemas.openxmlformats.org/drawingml/2006/main">
            <a:off x="609600" y="5238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Scale only when guests and hosts</a:t>
            </a:r>
          </a:p>
          <a:p xmlns:a="http://schemas.openxmlformats.org/drawingml/2006/main">
            <a:pPr>
              <a:defRPr sz="3300" b="1">
                <a:solidFill>
                  <a:srgbClr val="242424"/>
                </a:solidFill>
                <a:latin typeface="Aptos"/>
                <a:ea typeface="Aptos"/>
                <a:cs typeface="Aptos"/>
              </a:defRPr>
            </a:pPr>
            <a:r>
              <a:rPr sz="3300" b="1">
                <a:solidFill>
                  <a:srgbClr val="242424"/>
                </a:solidFill>
                <a:latin typeface="Aptos"/>
                <a:ea typeface="Aptos"/>
                <a:cs typeface="Aptos"/>
              </a:rPr>
              <a:t>both benefit</a:t>
            </a:r>
          </a:p>
        </p:txBody>
      </p:sp>
      <p:sp>
        <p:nvSpPr>
          <p:cNvPr id="3" name="">
            <a:extLst xmlns:a="http://schemas.openxmlformats.org/drawingml/2006/main">
              <a:ext uri="{FF2B5EF4-FFF2-40B4-BE49-F238E27FC236}">
                <a16:creationId xmlns:a16="http://schemas.microsoft.com/office/drawing/2014/main" id="{4D1D4E56-FDD5-4700-B9C5-BFD84622BCC8}"/>
              </a:ext>
            </a:extLst>
          </p:cNvPr>
          <p:cNvSpPr>
            <a:spLocks xmlns:a="http://schemas.openxmlformats.org/drawingml/2006/main" noGrp="1"/>
          </p:cNvSpPr>
          <p:nvPr/>
        </p:nvSpPr>
        <p:spPr>
          <a:xfrm xmlns:a="http://schemas.openxmlformats.org/drawingml/2006/main">
            <a:off x="628650" y="16097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6E6963"/>
                </a:solidFill>
                <a:latin typeface="Aptos"/>
                <a:ea typeface="Aptos"/>
                <a:cs typeface="Aptos"/>
              </a:defRPr>
            </a:pPr>
            <a:r>
              <a:rPr sz="1575" b="0">
                <a:solidFill>
                  <a:srgbClr val="6E6963"/>
                </a:solidFill>
                <a:latin typeface="Aptos"/>
                <a:ea typeface="Aptos"/>
                <a:cs typeface="Aptos"/>
              </a:rPr>
              <a:t>Proposed rollout with explicit evidence gates</a:t>
            </a:r>
          </a:p>
        </p:txBody>
      </p:sp>
      <p:sp>
        <p:nvSpPr>
          <p:cNvPr id="4" name="">
            <a:extLst xmlns:a="http://schemas.openxmlformats.org/drawingml/2006/main">
              <a:ext uri="{FF2B5EF4-FFF2-40B4-BE49-F238E27FC236}">
                <a16:creationId xmlns:a16="http://schemas.microsoft.com/office/drawing/2014/main" id="{03891B44-0494-463C-BC32-58234C56517E}"/>
              </a:ext>
            </a:extLst>
          </p:cNvPr>
          <p:cNvSpPr>
            <a:spLocks xmlns:a="http://schemas.openxmlformats.org/drawingml/2006/main" noGrp="1"/>
          </p:cNvSpPr>
          <p:nvPr/>
        </p:nvSpPr>
        <p:spPr>
          <a:xfrm xmlns:a="http://schemas.openxmlformats.org/drawingml/2006/main">
            <a:off x="628650" y="6467475"/>
            <a:ext cx="971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6E6963"/>
                </a:solidFill>
                <a:latin typeface="Aptos"/>
                <a:ea typeface="Aptos"/>
                <a:cs typeface="Aptos"/>
              </a:defRPr>
            </a:pPr>
            <a:r>
              <a:rPr sz="900" b="0">
                <a:solidFill>
                  <a:srgbClr val="6E6963"/>
                </a:solidFill>
                <a:latin typeface="Aptos"/>
                <a:ea typeface="Aptos"/>
                <a:cs typeface="Aptos"/>
              </a:rPr>
              <a:t>Independent product case study. Not affiliated with Airbnb.</a:t>
            </a:r>
          </a:p>
        </p:txBody>
      </p:sp>
      <p:sp>
        <p:nvSpPr>
          <p:cNvPr id="5" name="">
            <a:extLst xmlns:a="http://schemas.openxmlformats.org/drawingml/2006/main">
              <a:ext uri="{FF2B5EF4-FFF2-40B4-BE49-F238E27FC236}">
                <a16:creationId xmlns:a16="http://schemas.microsoft.com/office/drawing/2014/main" id="{9E6E125A-D1B2-49B2-9BD4-B4D59DD9E3EE}"/>
              </a:ext>
            </a:extLst>
          </p:cNvPr>
          <p:cNvSpPr>
            <a:spLocks xmlns:a="http://schemas.openxmlformats.org/drawingml/2006/main" noGrp="1"/>
          </p:cNvSpPr>
          <p:nvPr/>
        </p:nvSpPr>
        <p:spPr>
          <a:xfrm xmlns:a="http://schemas.openxmlformats.org/drawingml/2006/main">
            <a:off x="619125" y="2381250"/>
            <a:ext cx="123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525" b="1">
                <a:solidFill>
                  <a:srgbClr val="D94750"/>
                </a:solidFill>
                <a:latin typeface="Aptos"/>
                <a:ea typeface="Aptos"/>
                <a:cs typeface="Aptos"/>
              </a:defRPr>
            </a:pPr>
            <a:r>
              <a:rPr sz="3525" b="1">
                <a:solidFill>
                  <a:srgbClr val="D94750"/>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7200BFEE-E562-47B0-A431-5492A972D239}"/>
              </a:ext>
            </a:extLst>
          </p:cNvPr>
          <p:cNvSpPr>
            <a:spLocks xmlns:a="http://schemas.openxmlformats.org/drawingml/2006/main" noGrp="1"/>
          </p:cNvSpPr>
          <p:nvPr/>
        </p:nvSpPr>
        <p:spPr>
          <a:xfrm xmlns:a="http://schemas.openxmlformats.org/drawingml/2006/main">
            <a:off x="619125" y="305752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242424"/>
                </a:solidFill>
                <a:latin typeface="Aptos"/>
                <a:ea typeface="Aptos"/>
                <a:cs typeface="Aptos"/>
              </a:defRPr>
            </a:pPr>
            <a:r>
              <a:rPr sz="2325" b="1">
                <a:solidFill>
                  <a:srgbClr val="242424"/>
                </a:solidFill>
                <a:latin typeface="Aptos"/>
                <a:ea typeface="Aptos"/>
                <a:cs typeface="Aptos"/>
              </a:rPr>
              <a:t>Discover</a:t>
            </a:r>
          </a:p>
        </p:txBody>
      </p:sp>
      <p:sp>
        <p:nvSpPr>
          <p:cNvPr id="7" name="">
            <a:extLst xmlns:a="http://schemas.openxmlformats.org/drawingml/2006/main">
              <a:ext uri="{FF2B5EF4-FFF2-40B4-BE49-F238E27FC236}">
                <a16:creationId xmlns:a16="http://schemas.microsoft.com/office/drawing/2014/main" id="{3C616618-103C-437A-8BA1-52CEE492E414}"/>
              </a:ext>
            </a:extLst>
          </p:cNvPr>
          <p:cNvSpPr>
            <a:spLocks xmlns:a="http://schemas.openxmlformats.org/drawingml/2006/main" noGrp="1"/>
          </p:cNvSpPr>
          <p:nvPr/>
        </p:nvSpPr>
        <p:spPr>
          <a:xfrm xmlns:a="http://schemas.openxmlformats.org/drawingml/2006/main">
            <a:off x="628650" y="3609975"/>
            <a:ext cx="32099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42424"/>
                </a:solidFill>
                <a:latin typeface="Aptos"/>
                <a:ea typeface="Aptos"/>
                <a:cs typeface="Aptos"/>
              </a:defRPr>
            </a:pPr>
            <a:r>
              <a:rPr sz="1875" b="0">
                <a:solidFill>
                  <a:srgbClr val="242424"/>
                </a:solidFill>
                <a:latin typeface="Aptos"/>
                <a:ea typeface="Aptos"/>
                <a:cs typeface="Aptos"/>
              </a:rPr>
              <a:t>Decision replays and task tests</a:t>
            </a:r>
          </a:p>
        </p:txBody>
      </p:sp>
      <p:sp>
        <p:nvSpPr>
          <p:cNvPr id="8" name="">
            <a:extLst xmlns:a="http://schemas.openxmlformats.org/drawingml/2006/main">
              <a:ext uri="{FF2B5EF4-FFF2-40B4-BE49-F238E27FC236}">
                <a16:creationId xmlns:a16="http://schemas.microsoft.com/office/drawing/2014/main" id="{C6127EA8-5ED0-4C49-AFE9-FAC10D71AAAD}"/>
              </a:ext>
            </a:extLst>
          </p:cNvPr>
          <p:cNvSpPr>
            <a:spLocks xmlns:a="http://schemas.openxmlformats.org/drawingml/2006/main" noGrp="1"/>
          </p:cNvSpPr>
          <p:nvPr/>
        </p:nvSpPr>
        <p:spPr>
          <a:xfrm xmlns:a="http://schemas.openxmlformats.org/drawingml/2006/main">
            <a:off x="628650" y="4686300"/>
            <a:ext cx="3209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6E6963"/>
                </a:solidFill>
                <a:latin typeface="Aptos"/>
                <a:ea typeface="Aptos"/>
                <a:cs typeface="Aptos"/>
              </a:defRPr>
            </a:pPr>
            <a:r>
              <a:rPr sz="1725" b="0">
                <a:solidFill>
                  <a:srgbClr val="6E6963"/>
                </a:solidFill>
                <a:latin typeface="Aptos"/>
                <a:ea typeface="Aptos"/>
                <a:cs typeface="Aptos"/>
              </a:rPr>
              <a:t>Gate: the brief resolves</a:t>
            </a:r>
          </a:p>
          <a:p xmlns:a="http://schemas.openxmlformats.org/drawingml/2006/main">
            <a:pPr>
              <a:defRPr sz="1725" b="0">
                <a:solidFill>
                  <a:srgbClr val="6E6963"/>
                </a:solidFill>
                <a:latin typeface="Aptos"/>
                <a:ea typeface="Aptos"/>
                <a:cs typeface="Aptos"/>
              </a:defRPr>
            </a:pPr>
            <a:r>
              <a:rPr sz="1725" b="0">
                <a:solidFill>
                  <a:srgbClr val="6E6963"/>
                </a:solidFill>
                <a:latin typeface="Aptos"/>
                <a:ea typeface="Aptos"/>
                <a:cs typeface="Aptos"/>
              </a:rPr>
              <a:t>material uncertainty</a:t>
            </a:r>
          </a:p>
        </p:txBody>
      </p:sp>
      <p:sp>
        <p:nvSpPr>
          <p:cNvPr id="9" name="">
            <a:extLst xmlns:a="http://schemas.openxmlformats.org/drawingml/2006/main">
              <a:ext uri="{FF2B5EF4-FFF2-40B4-BE49-F238E27FC236}">
                <a16:creationId xmlns:a16="http://schemas.microsoft.com/office/drawing/2014/main" id="{14536F6F-5047-4A07-AB0A-4856C86BD451}"/>
              </a:ext>
            </a:extLst>
          </p:cNvPr>
          <p:cNvSpPr>
            <a:spLocks xmlns:a="http://schemas.openxmlformats.org/drawingml/2006/main" noGrp="1"/>
          </p:cNvSpPr>
          <p:nvPr/>
        </p:nvSpPr>
        <p:spPr>
          <a:xfrm xmlns:a="http://schemas.openxmlformats.org/drawingml/2006/main">
            <a:off x="4438650" y="2381250"/>
            <a:ext cx="123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525" b="1">
                <a:solidFill>
                  <a:srgbClr val="D94750"/>
                </a:solidFill>
                <a:latin typeface="Aptos"/>
                <a:ea typeface="Aptos"/>
                <a:cs typeface="Aptos"/>
              </a:defRPr>
            </a:pPr>
            <a:r>
              <a:rPr sz="3525" b="1">
                <a:solidFill>
                  <a:srgbClr val="D94750"/>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06360ED6-E53F-49A7-8958-A9D7CBEEE662}"/>
              </a:ext>
            </a:extLst>
          </p:cNvPr>
          <p:cNvSpPr>
            <a:spLocks xmlns:a="http://schemas.openxmlformats.org/drawingml/2006/main" noGrp="1"/>
          </p:cNvSpPr>
          <p:nvPr/>
        </p:nvSpPr>
        <p:spPr>
          <a:xfrm xmlns:a="http://schemas.openxmlformats.org/drawingml/2006/main">
            <a:off x="4438650" y="305752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242424"/>
                </a:solidFill>
                <a:latin typeface="Aptos"/>
                <a:ea typeface="Aptos"/>
                <a:cs typeface="Aptos"/>
              </a:defRPr>
            </a:pPr>
            <a:r>
              <a:rPr sz="2325" b="1">
                <a:solidFill>
                  <a:srgbClr val="242424"/>
                </a:solidFill>
                <a:latin typeface="Aptos"/>
                <a:ea typeface="Aptos"/>
                <a:cs typeface="Aptos"/>
              </a:rPr>
              <a:t>Pilot</a:t>
            </a:r>
          </a:p>
        </p:txBody>
      </p:sp>
      <p:sp>
        <p:nvSpPr>
          <p:cNvPr id="11" name="">
            <a:extLst xmlns:a="http://schemas.openxmlformats.org/drawingml/2006/main">
              <a:ext uri="{FF2B5EF4-FFF2-40B4-BE49-F238E27FC236}">
                <a16:creationId xmlns:a16="http://schemas.microsoft.com/office/drawing/2014/main" id="{05D8E9A9-E059-4400-8937-B75BDD78C956}"/>
              </a:ext>
            </a:extLst>
          </p:cNvPr>
          <p:cNvSpPr>
            <a:spLocks xmlns:a="http://schemas.openxmlformats.org/drawingml/2006/main" noGrp="1"/>
          </p:cNvSpPr>
          <p:nvPr/>
        </p:nvSpPr>
        <p:spPr>
          <a:xfrm xmlns:a="http://schemas.openxmlformats.org/drawingml/2006/main">
            <a:off x="4448175" y="3609975"/>
            <a:ext cx="32099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42424"/>
                </a:solidFill>
                <a:latin typeface="Aptos"/>
                <a:ea typeface="Aptos"/>
                <a:cs typeface="Aptos"/>
              </a:defRPr>
            </a:pPr>
            <a:r>
              <a:rPr sz="1875" b="0">
                <a:solidFill>
                  <a:srgbClr val="242424"/>
                </a:solidFill>
                <a:latin typeface="Aptos"/>
                <a:ea typeface="Aptos"/>
                <a:cs typeface="Aptos"/>
              </a:rPr>
              <a:t>28–90 nights</a:t>
            </a:r>
          </a:p>
          <a:p xmlns:a="http://schemas.openxmlformats.org/drawingml/2006/main">
            <a:pPr>
              <a:defRPr sz="1875" b="0">
                <a:solidFill>
                  <a:srgbClr val="242424"/>
                </a:solidFill>
                <a:latin typeface="Aptos"/>
                <a:ea typeface="Aptos"/>
                <a:cs typeface="Aptos"/>
              </a:defRPr>
            </a:pPr>
            <a:r>
              <a:rPr sz="1875" b="0">
                <a:solidFill>
                  <a:srgbClr val="242424"/>
                </a:solidFill>
                <a:latin typeface="Aptos"/>
                <a:ea typeface="Aptos"/>
                <a:cs typeface="Aptos"/>
              </a:rPr>
              <a:t>Two domestic markets</a:t>
            </a:r>
          </a:p>
        </p:txBody>
      </p:sp>
      <p:sp>
        <p:nvSpPr>
          <p:cNvPr id="12" name="">
            <a:extLst xmlns:a="http://schemas.openxmlformats.org/drawingml/2006/main">
              <a:ext uri="{FF2B5EF4-FFF2-40B4-BE49-F238E27FC236}">
                <a16:creationId xmlns:a16="http://schemas.microsoft.com/office/drawing/2014/main" id="{A309E3A2-ECF9-4670-8919-AAF25A255A9C}"/>
              </a:ext>
            </a:extLst>
          </p:cNvPr>
          <p:cNvSpPr>
            <a:spLocks xmlns:a="http://schemas.openxmlformats.org/drawingml/2006/main" noGrp="1"/>
          </p:cNvSpPr>
          <p:nvPr/>
        </p:nvSpPr>
        <p:spPr>
          <a:xfrm xmlns:a="http://schemas.openxmlformats.org/drawingml/2006/main">
            <a:off x="4448175" y="4686300"/>
            <a:ext cx="3209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6E6963"/>
                </a:solidFill>
                <a:latin typeface="Aptos"/>
                <a:ea typeface="Aptos"/>
                <a:cs typeface="Aptos"/>
              </a:defRPr>
            </a:pPr>
            <a:r>
              <a:rPr sz="1725" b="0">
                <a:solidFill>
                  <a:srgbClr val="6E6963"/>
                </a:solidFill>
                <a:latin typeface="Aptos"/>
                <a:ea typeface="Aptos"/>
                <a:cs typeface="Aptos"/>
              </a:rPr>
              <a:t>Gate: quality lift with host</a:t>
            </a:r>
          </a:p>
          <a:p xmlns:a="http://schemas.openxmlformats.org/drawingml/2006/main">
            <a:pPr>
              <a:defRPr sz="1725" b="0">
                <a:solidFill>
                  <a:srgbClr val="6E6963"/>
                </a:solidFill>
                <a:latin typeface="Aptos"/>
                <a:ea typeface="Aptos"/>
                <a:cs typeface="Aptos"/>
              </a:defRPr>
            </a:pPr>
            <a:r>
              <a:rPr sz="1725" b="0">
                <a:solidFill>
                  <a:srgbClr val="6E6963"/>
                </a:solidFill>
                <a:latin typeface="Aptos"/>
                <a:ea typeface="Aptos"/>
                <a:cs typeface="Aptos"/>
              </a:rPr>
              <a:t>and cost guardrails</a:t>
            </a:r>
          </a:p>
        </p:txBody>
      </p:sp>
      <p:sp>
        <p:nvSpPr>
          <p:cNvPr id="13" name="">
            <a:extLst xmlns:a="http://schemas.openxmlformats.org/drawingml/2006/main">
              <a:ext uri="{FF2B5EF4-FFF2-40B4-BE49-F238E27FC236}">
                <a16:creationId xmlns:a16="http://schemas.microsoft.com/office/drawing/2014/main" id="{14360536-B5B4-4148-8047-7D5A11C1F1B1}"/>
              </a:ext>
            </a:extLst>
          </p:cNvPr>
          <p:cNvSpPr>
            <a:spLocks xmlns:a="http://schemas.openxmlformats.org/drawingml/2006/main" noGrp="1"/>
          </p:cNvSpPr>
          <p:nvPr/>
        </p:nvSpPr>
        <p:spPr>
          <a:xfrm xmlns:a="http://schemas.openxmlformats.org/drawingml/2006/main">
            <a:off x="8248650" y="2381250"/>
            <a:ext cx="1238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525" b="1">
                <a:solidFill>
                  <a:srgbClr val="D94750"/>
                </a:solidFill>
                <a:latin typeface="Aptos"/>
                <a:ea typeface="Aptos"/>
                <a:cs typeface="Aptos"/>
              </a:defRPr>
            </a:pPr>
            <a:r>
              <a:rPr sz="3525" b="1">
                <a:solidFill>
                  <a:srgbClr val="D94750"/>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914114B3-0E23-43B3-814B-980C8DD9B3BD}"/>
              </a:ext>
            </a:extLst>
          </p:cNvPr>
          <p:cNvSpPr>
            <a:spLocks xmlns:a="http://schemas.openxmlformats.org/drawingml/2006/main" noGrp="1"/>
          </p:cNvSpPr>
          <p:nvPr/>
        </p:nvSpPr>
        <p:spPr>
          <a:xfrm xmlns:a="http://schemas.openxmlformats.org/drawingml/2006/main">
            <a:off x="8248650" y="305752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242424"/>
                </a:solidFill>
                <a:latin typeface="Aptos"/>
                <a:ea typeface="Aptos"/>
                <a:cs typeface="Aptos"/>
              </a:defRPr>
            </a:pPr>
            <a:r>
              <a:rPr sz="2325" b="1">
                <a:solidFill>
                  <a:srgbClr val="242424"/>
                </a:solidFill>
                <a:latin typeface="Aptos"/>
                <a:ea typeface="Aptos"/>
                <a:cs typeface="Aptos"/>
              </a:rPr>
              <a:t>Expand</a:t>
            </a:r>
          </a:p>
        </p:txBody>
      </p:sp>
      <p:sp>
        <p:nvSpPr>
          <p:cNvPr id="15" name="">
            <a:extLst xmlns:a="http://schemas.openxmlformats.org/drawingml/2006/main">
              <a:ext uri="{FF2B5EF4-FFF2-40B4-BE49-F238E27FC236}">
                <a16:creationId xmlns:a16="http://schemas.microsoft.com/office/drawing/2014/main" id="{19733BA8-AB11-4A6A-A307-5503C3D5BC95}"/>
              </a:ext>
            </a:extLst>
          </p:cNvPr>
          <p:cNvSpPr>
            <a:spLocks xmlns:a="http://schemas.openxmlformats.org/drawingml/2006/main" noGrp="1"/>
          </p:cNvSpPr>
          <p:nvPr/>
        </p:nvSpPr>
        <p:spPr>
          <a:xfrm xmlns:a="http://schemas.openxmlformats.org/drawingml/2006/main">
            <a:off x="8258175" y="3609975"/>
            <a:ext cx="32099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42424"/>
                </a:solidFill>
                <a:latin typeface="Aptos"/>
                <a:ea typeface="Aptos"/>
                <a:cs typeface="Aptos"/>
              </a:defRPr>
            </a:pPr>
            <a:r>
              <a:rPr sz="1875" b="0">
                <a:solidFill>
                  <a:srgbClr val="242424"/>
                </a:solidFill>
                <a:latin typeface="Aptos"/>
                <a:ea typeface="Aptos"/>
                <a:cs typeface="Aptos"/>
              </a:rPr>
              <a:t>91–180 nights</a:t>
            </a:r>
          </a:p>
          <a:p xmlns:a="http://schemas.openxmlformats.org/drawingml/2006/main">
            <a:pPr>
              <a:defRPr sz="1875" b="0">
                <a:solidFill>
                  <a:srgbClr val="242424"/>
                </a:solidFill>
                <a:latin typeface="Aptos"/>
                <a:ea typeface="Aptos"/>
                <a:cs typeface="Aptos"/>
              </a:defRPr>
            </a:pPr>
            <a:r>
              <a:rPr sz="1875" b="0">
                <a:solidFill>
                  <a:srgbClr val="242424"/>
                </a:solidFill>
                <a:latin typeface="Aptos"/>
                <a:ea typeface="Aptos"/>
                <a:cs typeface="Aptos"/>
              </a:rPr>
              <a:t>Then new markets</a:t>
            </a:r>
          </a:p>
        </p:txBody>
      </p:sp>
      <p:sp>
        <p:nvSpPr>
          <p:cNvPr id="16" name="">
            <a:extLst xmlns:a="http://schemas.openxmlformats.org/drawingml/2006/main">
              <a:ext uri="{FF2B5EF4-FFF2-40B4-BE49-F238E27FC236}">
                <a16:creationId xmlns:a16="http://schemas.microsoft.com/office/drawing/2014/main" id="{0B9271AD-8B4D-4F04-A9D3-6D4CA1A4303C}"/>
              </a:ext>
            </a:extLst>
          </p:cNvPr>
          <p:cNvSpPr>
            <a:spLocks xmlns:a="http://schemas.openxmlformats.org/drawingml/2006/main" noGrp="1"/>
          </p:cNvSpPr>
          <p:nvPr/>
        </p:nvSpPr>
        <p:spPr>
          <a:xfrm xmlns:a="http://schemas.openxmlformats.org/drawingml/2006/main">
            <a:off x="8258175" y="4686300"/>
            <a:ext cx="3209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6E6963"/>
                </a:solidFill>
                <a:latin typeface="Aptos"/>
                <a:ea typeface="Aptos"/>
                <a:cs typeface="Aptos"/>
              </a:defRPr>
            </a:pPr>
            <a:r>
              <a:rPr sz="1725" b="0">
                <a:solidFill>
                  <a:srgbClr val="6E6963"/>
                </a:solidFill>
                <a:latin typeface="Aptos"/>
                <a:ea typeface="Aptos"/>
                <a:cs typeface="Aptos"/>
              </a:rPr>
              <a:t>Gate: completed-stay health</a:t>
            </a:r>
          </a:p>
          <a:p xmlns:a="http://schemas.openxmlformats.org/drawingml/2006/main">
            <a:pPr>
              <a:defRPr sz="1725" b="0">
                <a:solidFill>
                  <a:srgbClr val="6E6963"/>
                </a:solidFill>
                <a:latin typeface="Aptos"/>
                <a:ea typeface="Aptos"/>
                <a:cs typeface="Aptos"/>
              </a:defRPr>
            </a:pPr>
            <a:r>
              <a:rPr sz="1725" b="0">
                <a:solidFill>
                  <a:srgbClr val="6E6963"/>
                </a:solidFill>
                <a:latin typeface="Aptos"/>
                <a:ea typeface="Aptos"/>
                <a:cs typeface="Aptos"/>
              </a:rPr>
              <a:t>and local approval</a:t>
            </a:r>
          </a:p>
        </p:txBody>
      </p:sp>
      <p:sp>
        <p:nvSpPr>
          <p:cNvPr id="17" name="">
            <a:extLst xmlns:a="http://schemas.openxmlformats.org/drawingml/2006/main">
              <a:ext uri="{FF2B5EF4-FFF2-40B4-BE49-F238E27FC236}">
                <a16:creationId xmlns:a16="http://schemas.microsoft.com/office/drawing/2014/main" id="{1391512C-3BC2-40C2-BBD1-4C3346FBB787}"/>
              </a:ext>
            </a:extLst>
          </p:cNvPr>
          <p:cNvSpPr>
            <a:spLocks xmlns:a="http://schemas.openxmlformats.org/drawingml/2006/main" noGrp="1"/>
          </p:cNvSpPr>
          <p:nvPr/>
        </p:nvSpPr>
        <p:spPr>
          <a:xfrm xmlns:a="http://schemas.openxmlformats.org/drawingml/2006/main">
            <a:off x="619125" y="5762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D94750"/>
                </a:solidFill>
                <a:latin typeface="Aptos"/>
                <a:ea typeface="Aptos"/>
                <a:cs typeface="Aptos"/>
              </a:defRPr>
            </a:pPr>
            <a:r>
              <a:rPr sz="2325" b="1">
                <a:solidFill>
                  <a:srgbClr val="D94750"/>
                </a:solidFill>
                <a:latin typeface="Aptos"/>
                <a:ea typeface="Aptos"/>
                <a:cs typeface="Aptos"/>
              </a:rPr>
              <a:t>Product hypothesis: clearer commitments create better matches</a:t>
            </a:r>
          </a:p>
        </p:txBody>
      </p:sp>
    </p:spTree>
    <p:extLst>
      <p:ext uri="{BB962C8B-B14F-4D97-AF65-F5344CB8AC3E}">
        <p14:creationId xmlns:p14="http://schemas.microsoft.com/office/powerpoint/2010/main" val="19494489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2026-09-11T13:21:09.1130000Z</dcterms:created>
  <dcterms:modified xsi:type="dcterms:W3CDTF">2026-09-11T13:21:09.1130000Z</dcterms:modified>
</coreProperties>
</file>